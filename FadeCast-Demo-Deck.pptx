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FadeCast is an autonomous trading agent that fades crowd overreaction in live World Cup betting markets, committing every call to Solana before it resolves so its win rate is cryptographically auditable. Built on the TxLINE API and Solana devnet.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Icebreaker: ask the room if they've seen The Hummingbird Project (2018) — Jesse Eisenberg and Alexander Skarsgard racing to build a fibre line for a one-millisecond high-frequency-trading edge. Same obsession with market microstructure, but the opposite bet: that film is about winning by SPEED; FadeCast wins by being RIGHT — fading the crowd's overreaction rather than racing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problems. First, the market itself overreacts to goals — a real, tradeable inefficiency. Second, nobody who predicts anything online has a trustworthy record because losses get deleted. FadeCast solves both with one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loop in one sentence: detect the overreaction, fade it, and stamp the call on-chain before resolution so the record can't be faked.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TxLINE StablePrice odds and score events stream in, the overshoot engine detects the panic, each signal is committed to Solana devnet before it resolves, and the agent scores its own outcome. Six TxLINE endpoint families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Each fade signal is written to Solana as a memo transaction, with a SHA-256 hash of the full signal, timestamped before the market resolves. The wallet becomes an un-fakeable public track record. Since the judges are TxOdds, building on their validation-proof story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strategy is an online port of an offline overshoot analyzer validated on real in-play data. Key rules: detect a 6-point jump in 45s, only trade inside the 0.08-0.92 band, enter only after the move stabilizes, hold 240s, and stop out at 7 points to survive real comebacks like the Saudi Arabia shock. The losses are honest and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top of the trading engine sits a consumer layer built for relatability: swipeable you-vs-the-bot cards, a Most Fadeable leaderboard that scores the takes on your own timeline, and a virtual-bankroll quick bet with no wallet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Mapped to the judging criteria: strong data ingestion, autonomous and reliable operation, clean market-agnostic architecture, and genuine production readiness with a live deploy plus replay mode. It scales by sharding series across workers and batching on-chain commits under a Merkle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live demo. The single best thing to show is the Argentina vs Saudi Arabia replay: the market panics after the goals, the bot fades it, and the call is already committed on-chain. Live demo and repo links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flipV="1">
            <a:off x="0" y="5353812"/>
            <a:ext cx="731502" cy="24689"/>
          </a:xfrm>
          <a:prstGeom prst="line">
            <a:avLst/>
          </a:prstGeom>
          <a:noFill/>
          <a:ln w="25400">
            <a:solidFill>
              <a:srgbClr val="2A5A96"/>
            </a:solidFill>
            <a:prstDash val="solid"/>
          </a:ln>
        </p:spPr>
      </p:sp>
      <p:sp>
        <p:nvSpPr>
          <p:cNvPr id="3" name="Shape 1"/>
          <p:cNvSpPr/>
          <p:nvPr/>
        </p:nvSpPr>
        <p:spPr>
          <a:xfrm>
            <a:off x="731502" y="5353812"/>
            <a:ext cx="731502" cy="49378"/>
          </a:xfrm>
          <a:prstGeom prst="line">
            <a:avLst/>
          </a:prstGeom>
          <a:noFill/>
          <a:ln w="25400">
            <a:solidFill>
              <a:srgbClr val="2A5A96"/>
            </a:solidFill>
            <a:prstDash val="solid"/>
          </a:ln>
        </p:spPr>
      </p:sp>
      <p:sp>
        <p:nvSpPr>
          <p:cNvPr id="4" name="Shape 2"/>
          <p:cNvSpPr/>
          <p:nvPr/>
        </p:nvSpPr>
        <p:spPr>
          <a:xfrm flipV="1">
            <a:off x="1463003" y="5353812"/>
            <a:ext cx="731502" cy="49378"/>
          </a:xfrm>
          <a:prstGeom prst="line">
            <a:avLst/>
          </a:prstGeom>
          <a:noFill/>
          <a:ln w="25400">
            <a:solidFill>
              <a:srgbClr val="2A5A96"/>
            </a:solidFill>
            <a:prstDash val="solid"/>
          </a:ln>
        </p:spPr>
      </p:sp>
      <p:sp>
        <p:nvSpPr>
          <p:cNvPr id="5" name="Shape 3"/>
          <p:cNvSpPr/>
          <p:nvPr/>
        </p:nvSpPr>
        <p:spPr>
          <a:xfrm>
            <a:off x="2194505" y="5353812"/>
            <a:ext cx="731502" cy="49378"/>
          </a:xfrm>
          <a:prstGeom prst="line">
            <a:avLst/>
          </a:prstGeom>
          <a:noFill/>
          <a:ln w="25400">
            <a:solidFill>
              <a:srgbClr val="2A5A96"/>
            </a:solidFill>
            <a:prstDash val="solid"/>
          </a:ln>
        </p:spPr>
      </p:sp>
      <p:sp>
        <p:nvSpPr>
          <p:cNvPr id="6" name="Shape 4"/>
          <p:cNvSpPr/>
          <p:nvPr/>
        </p:nvSpPr>
        <p:spPr>
          <a:xfrm flipV="1">
            <a:off x="2926007" y="5353812"/>
            <a:ext cx="731502" cy="49378"/>
          </a:xfrm>
          <a:prstGeom prst="line">
            <a:avLst/>
          </a:prstGeom>
          <a:noFill/>
          <a:ln w="25400">
            <a:solidFill>
              <a:srgbClr val="2A5A96"/>
            </a:solidFill>
            <a:prstDash val="solid"/>
          </a:ln>
        </p:spPr>
      </p:sp>
      <p:sp>
        <p:nvSpPr>
          <p:cNvPr id="7" name="Shape 5"/>
          <p:cNvSpPr/>
          <p:nvPr/>
        </p:nvSpPr>
        <p:spPr>
          <a:xfrm>
            <a:off x="3657509" y="5353812"/>
            <a:ext cx="731502" cy="24689"/>
          </a:xfrm>
          <a:prstGeom prst="line">
            <a:avLst/>
          </a:prstGeom>
          <a:noFill/>
          <a:ln w="25400">
            <a:solidFill>
              <a:srgbClr val="2A5A96"/>
            </a:solidFill>
            <a:prstDash val="solid"/>
          </a:ln>
        </p:spPr>
      </p:sp>
      <p:sp>
        <p:nvSpPr>
          <p:cNvPr id="8" name="Shape 6"/>
          <p:cNvSpPr/>
          <p:nvPr/>
        </p:nvSpPr>
        <p:spPr>
          <a:xfrm flipV="1">
            <a:off x="4389010" y="4983480"/>
            <a:ext cx="487668" cy="395021"/>
          </a:xfrm>
          <a:prstGeom prst="line">
            <a:avLst/>
          </a:prstGeom>
          <a:noFill/>
          <a:ln w="25400">
            <a:solidFill>
              <a:srgbClr val="2A5A96"/>
            </a:solidFill>
            <a:prstDash val="solid"/>
          </a:ln>
        </p:spPr>
      </p:sp>
      <p:sp>
        <p:nvSpPr>
          <p:cNvPr id="9" name="Shape 7"/>
          <p:cNvSpPr/>
          <p:nvPr/>
        </p:nvSpPr>
        <p:spPr>
          <a:xfrm flipV="1">
            <a:off x="4876678" y="4390949"/>
            <a:ext cx="487668" cy="592531"/>
          </a:xfrm>
          <a:prstGeom prst="line">
            <a:avLst/>
          </a:prstGeom>
          <a:noFill/>
          <a:ln w="25400">
            <a:solidFill>
              <a:srgbClr val="2A5A96"/>
            </a:solidFill>
            <a:prstDash val="solid"/>
          </a:ln>
        </p:spPr>
      </p:sp>
      <p:sp>
        <p:nvSpPr>
          <p:cNvPr id="10" name="Shape 8"/>
          <p:cNvSpPr/>
          <p:nvPr/>
        </p:nvSpPr>
        <p:spPr>
          <a:xfrm flipV="1">
            <a:off x="5364346" y="4094683"/>
            <a:ext cx="365751" cy="296266"/>
          </a:xfrm>
          <a:prstGeom prst="line">
            <a:avLst/>
          </a:prstGeom>
          <a:noFill/>
          <a:ln w="25400">
            <a:solidFill>
              <a:srgbClr val="2A5A96"/>
            </a:solidFill>
            <a:prstDash val="solid"/>
          </a:ln>
        </p:spPr>
      </p:sp>
      <p:sp>
        <p:nvSpPr>
          <p:cNvPr id="11" name="Shape 9"/>
          <p:cNvSpPr/>
          <p:nvPr/>
        </p:nvSpPr>
        <p:spPr>
          <a:xfrm>
            <a:off x="5730097" y="4094683"/>
            <a:ext cx="487668" cy="74066"/>
          </a:xfrm>
          <a:prstGeom prst="line">
            <a:avLst/>
          </a:prstGeom>
          <a:noFill/>
          <a:ln w="25400">
            <a:solidFill>
              <a:srgbClr val="2A5A96"/>
            </a:solidFill>
            <a:prstDash val="solid"/>
          </a:ln>
        </p:spPr>
      </p:sp>
      <p:sp>
        <p:nvSpPr>
          <p:cNvPr id="12" name="Shape 10"/>
          <p:cNvSpPr/>
          <p:nvPr/>
        </p:nvSpPr>
        <p:spPr>
          <a:xfrm>
            <a:off x="6217765" y="4168750"/>
            <a:ext cx="609585" cy="172822"/>
          </a:xfrm>
          <a:prstGeom prst="line">
            <a:avLst/>
          </a:prstGeom>
          <a:noFill/>
          <a:ln w="25400">
            <a:solidFill>
              <a:srgbClr val="2A5A96"/>
            </a:solidFill>
            <a:prstDash val="solid"/>
          </a:ln>
        </p:spPr>
      </p:sp>
      <p:sp>
        <p:nvSpPr>
          <p:cNvPr id="13" name="Shape 11"/>
          <p:cNvSpPr/>
          <p:nvPr/>
        </p:nvSpPr>
        <p:spPr>
          <a:xfrm>
            <a:off x="6827349" y="4341571"/>
            <a:ext cx="731502" cy="148133"/>
          </a:xfrm>
          <a:prstGeom prst="line">
            <a:avLst/>
          </a:prstGeom>
          <a:noFill/>
          <a:ln w="25400">
            <a:solidFill>
              <a:srgbClr val="2A5A96"/>
            </a:solidFill>
            <a:prstDash val="solid"/>
          </a:ln>
        </p:spPr>
      </p:sp>
      <p:sp>
        <p:nvSpPr>
          <p:cNvPr id="14" name="Shape 12"/>
          <p:cNvSpPr/>
          <p:nvPr/>
        </p:nvSpPr>
        <p:spPr>
          <a:xfrm>
            <a:off x="7558851" y="4489704"/>
            <a:ext cx="975336" cy="123444"/>
          </a:xfrm>
          <a:prstGeom prst="line">
            <a:avLst/>
          </a:prstGeom>
          <a:noFill/>
          <a:ln w="25400">
            <a:solidFill>
              <a:srgbClr val="2A5A96"/>
            </a:solidFill>
            <a:prstDash val="solid"/>
          </a:ln>
        </p:spPr>
      </p:sp>
      <p:sp>
        <p:nvSpPr>
          <p:cNvPr id="15" name="Shape 13"/>
          <p:cNvSpPr/>
          <p:nvPr/>
        </p:nvSpPr>
        <p:spPr>
          <a:xfrm>
            <a:off x="8534187" y="4613148"/>
            <a:ext cx="1219170" cy="74066"/>
          </a:xfrm>
          <a:prstGeom prst="line">
            <a:avLst/>
          </a:prstGeom>
          <a:noFill/>
          <a:ln w="25400">
            <a:solidFill>
              <a:srgbClr val="2A5A96"/>
            </a:solidFill>
            <a:prstDash val="solid"/>
          </a:ln>
        </p:spPr>
      </p:sp>
      <p:sp>
        <p:nvSpPr>
          <p:cNvPr id="16" name="Shape 14"/>
          <p:cNvSpPr/>
          <p:nvPr/>
        </p:nvSpPr>
        <p:spPr>
          <a:xfrm>
            <a:off x="9753356" y="4687214"/>
            <a:ext cx="1219170" cy="12344"/>
          </a:xfrm>
          <a:prstGeom prst="line">
            <a:avLst/>
          </a:prstGeom>
          <a:noFill/>
          <a:ln w="25400">
            <a:solidFill>
              <a:srgbClr val="2A5A96"/>
            </a:solidFill>
            <a:prstDash val="solid"/>
          </a:ln>
        </p:spPr>
      </p:sp>
      <p:sp>
        <p:nvSpPr>
          <p:cNvPr id="17" name="Shape 15"/>
          <p:cNvSpPr/>
          <p:nvPr/>
        </p:nvSpPr>
        <p:spPr>
          <a:xfrm flipV="1">
            <a:off x="10972526" y="4687214"/>
            <a:ext cx="1219170" cy="12344"/>
          </a:xfrm>
          <a:prstGeom prst="line">
            <a:avLst/>
          </a:prstGeom>
          <a:noFill/>
          <a:ln w="25400">
            <a:solidFill>
              <a:srgbClr val="2A5A96"/>
            </a:solidFill>
            <a:prstDash val="solid"/>
          </a:ln>
        </p:spPr>
      </p:sp>
      <p:sp>
        <p:nvSpPr>
          <p:cNvPr id="18" name="Shape 16"/>
          <p:cNvSpPr/>
          <p:nvPr/>
        </p:nvSpPr>
        <p:spPr>
          <a:xfrm flipV="1">
            <a:off x="0" y="5353812"/>
            <a:ext cx="731502" cy="24689"/>
          </a:xfrm>
          <a:prstGeom prst="line">
            <a:avLst/>
          </a:prstGeom>
          <a:noFill/>
          <a:ln w="31750">
            <a:solidFill>
              <a:srgbClr val="3987E5"/>
            </a:solidFill>
            <a:prstDash val="solid"/>
          </a:ln>
        </p:spPr>
      </p:sp>
      <p:sp>
        <p:nvSpPr>
          <p:cNvPr id="19" name="Shape 17"/>
          <p:cNvSpPr/>
          <p:nvPr/>
        </p:nvSpPr>
        <p:spPr>
          <a:xfrm>
            <a:off x="731502" y="5353812"/>
            <a:ext cx="731502" cy="49378"/>
          </a:xfrm>
          <a:prstGeom prst="line">
            <a:avLst/>
          </a:prstGeom>
          <a:noFill/>
          <a:ln w="31750">
            <a:solidFill>
              <a:srgbClr val="3987E5"/>
            </a:solidFill>
            <a:prstDash val="solid"/>
          </a:ln>
        </p:spPr>
      </p:sp>
      <p:sp>
        <p:nvSpPr>
          <p:cNvPr id="20" name="Shape 18"/>
          <p:cNvSpPr/>
          <p:nvPr/>
        </p:nvSpPr>
        <p:spPr>
          <a:xfrm flipV="1">
            <a:off x="1463003" y="5353812"/>
            <a:ext cx="731502" cy="49378"/>
          </a:xfrm>
          <a:prstGeom prst="line">
            <a:avLst/>
          </a:prstGeom>
          <a:noFill/>
          <a:ln w="31750">
            <a:solidFill>
              <a:srgbClr val="3987E5"/>
            </a:solidFill>
            <a:prstDash val="solid"/>
          </a:ln>
        </p:spPr>
      </p:sp>
      <p:sp>
        <p:nvSpPr>
          <p:cNvPr id="21" name="Shape 19"/>
          <p:cNvSpPr/>
          <p:nvPr/>
        </p:nvSpPr>
        <p:spPr>
          <a:xfrm>
            <a:off x="2194505" y="5353812"/>
            <a:ext cx="731502" cy="49378"/>
          </a:xfrm>
          <a:prstGeom prst="line">
            <a:avLst/>
          </a:prstGeom>
          <a:noFill/>
          <a:ln w="31750">
            <a:solidFill>
              <a:srgbClr val="3987E5"/>
            </a:solidFill>
            <a:prstDash val="solid"/>
          </a:ln>
        </p:spPr>
      </p:sp>
      <p:sp>
        <p:nvSpPr>
          <p:cNvPr id="22" name="Shape 20"/>
          <p:cNvSpPr/>
          <p:nvPr/>
        </p:nvSpPr>
        <p:spPr>
          <a:xfrm flipV="1">
            <a:off x="2926007" y="5353812"/>
            <a:ext cx="731502" cy="49378"/>
          </a:xfrm>
          <a:prstGeom prst="line">
            <a:avLst/>
          </a:prstGeom>
          <a:noFill/>
          <a:ln w="31750">
            <a:solidFill>
              <a:srgbClr val="3987E5"/>
            </a:solidFill>
            <a:prstDash val="solid"/>
          </a:ln>
        </p:spPr>
      </p:sp>
      <p:sp>
        <p:nvSpPr>
          <p:cNvPr id="23" name="Shape 21"/>
          <p:cNvSpPr/>
          <p:nvPr/>
        </p:nvSpPr>
        <p:spPr>
          <a:xfrm>
            <a:off x="3657509" y="5353812"/>
            <a:ext cx="731502" cy="24689"/>
          </a:xfrm>
          <a:prstGeom prst="line">
            <a:avLst/>
          </a:prstGeom>
          <a:noFill/>
          <a:ln w="31750">
            <a:solidFill>
              <a:srgbClr val="3987E5"/>
            </a:solidFill>
            <a:prstDash val="solid"/>
          </a:ln>
        </p:spPr>
      </p:sp>
      <p:sp>
        <p:nvSpPr>
          <p:cNvPr id="24" name="Shape 22"/>
          <p:cNvSpPr/>
          <p:nvPr/>
        </p:nvSpPr>
        <p:spPr>
          <a:xfrm flipV="1">
            <a:off x="4389010" y="4983480"/>
            <a:ext cx="487668" cy="395021"/>
          </a:xfrm>
          <a:prstGeom prst="line">
            <a:avLst/>
          </a:prstGeom>
          <a:noFill/>
          <a:ln w="31750">
            <a:solidFill>
              <a:srgbClr val="3987E5"/>
            </a:solidFill>
            <a:prstDash val="solid"/>
          </a:ln>
        </p:spPr>
      </p:sp>
      <p:sp>
        <p:nvSpPr>
          <p:cNvPr id="25" name="Shape 23"/>
          <p:cNvSpPr/>
          <p:nvPr/>
        </p:nvSpPr>
        <p:spPr>
          <a:xfrm flipV="1">
            <a:off x="4876678" y="4390949"/>
            <a:ext cx="487668" cy="592531"/>
          </a:xfrm>
          <a:prstGeom prst="line">
            <a:avLst/>
          </a:prstGeom>
          <a:noFill/>
          <a:ln w="31750">
            <a:solidFill>
              <a:srgbClr val="3987E5"/>
            </a:solidFill>
            <a:prstDash val="solid"/>
          </a:ln>
        </p:spPr>
      </p:sp>
      <p:sp>
        <p:nvSpPr>
          <p:cNvPr id="26" name="Shape 24"/>
          <p:cNvSpPr/>
          <p:nvPr/>
        </p:nvSpPr>
        <p:spPr>
          <a:xfrm flipV="1">
            <a:off x="5364346" y="4094683"/>
            <a:ext cx="365751" cy="296266"/>
          </a:xfrm>
          <a:prstGeom prst="line">
            <a:avLst/>
          </a:prstGeom>
          <a:noFill/>
          <a:ln w="31750">
            <a:solidFill>
              <a:srgbClr val="3987E5"/>
            </a:solidFill>
            <a:prstDash val="solid"/>
          </a:ln>
        </p:spPr>
      </p:sp>
      <p:sp>
        <p:nvSpPr>
          <p:cNvPr id="27" name="Shape 25"/>
          <p:cNvSpPr/>
          <p:nvPr/>
        </p:nvSpPr>
        <p:spPr>
          <a:xfrm>
            <a:off x="5730097" y="4094683"/>
            <a:ext cx="487668" cy="74066"/>
          </a:xfrm>
          <a:prstGeom prst="line">
            <a:avLst/>
          </a:prstGeom>
          <a:noFill/>
          <a:ln w="31750">
            <a:solidFill>
              <a:srgbClr val="3987E5"/>
            </a:solidFill>
            <a:prstDash val="solid"/>
          </a:ln>
        </p:spPr>
      </p:sp>
      <p:sp>
        <p:nvSpPr>
          <p:cNvPr id="28" name="Shape 26"/>
          <p:cNvSpPr/>
          <p:nvPr/>
        </p:nvSpPr>
        <p:spPr>
          <a:xfrm>
            <a:off x="6217765" y="4168750"/>
            <a:ext cx="609585" cy="172822"/>
          </a:xfrm>
          <a:prstGeom prst="line">
            <a:avLst/>
          </a:prstGeom>
          <a:noFill/>
          <a:ln w="31750">
            <a:solidFill>
              <a:srgbClr val="3987E5"/>
            </a:solidFill>
            <a:prstDash val="solid"/>
          </a:ln>
        </p:spPr>
      </p:sp>
      <p:sp>
        <p:nvSpPr>
          <p:cNvPr id="29" name="Shape 27"/>
          <p:cNvSpPr/>
          <p:nvPr/>
        </p:nvSpPr>
        <p:spPr>
          <a:xfrm>
            <a:off x="6827349" y="4341571"/>
            <a:ext cx="731502" cy="148133"/>
          </a:xfrm>
          <a:prstGeom prst="line">
            <a:avLst/>
          </a:prstGeom>
          <a:noFill/>
          <a:ln w="31750">
            <a:solidFill>
              <a:srgbClr val="3987E5"/>
            </a:solidFill>
            <a:prstDash val="solid"/>
          </a:ln>
        </p:spPr>
      </p:sp>
      <p:sp>
        <p:nvSpPr>
          <p:cNvPr id="30" name="Shape 28"/>
          <p:cNvSpPr/>
          <p:nvPr/>
        </p:nvSpPr>
        <p:spPr>
          <a:xfrm>
            <a:off x="7558851" y="4489704"/>
            <a:ext cx="975336" cy="123444"/>
          </a:xfrm>
          <a:prstGeom prst="line">
            <a:avLst/>
          </a:prstGeom>
          <a:noFill/>
          <a:ln w="31750">
            <a:solidFill>
              <a:srgbClr val="3987E5"/>
            </a:solidFill>
            <a:prstDash val="solid"/>
          </a:ln>
        </p:spPr>
      </p:sp>
      <p:sp>
        <p:nvSpPr>
          <p:cNvPr id="31" name="Shape 29"/>
          <p:cNvSpPr/>
          <p:nvPr/>
        </p:nvSpPr>
        <p:spPr>
          <a:xfrm>
            <a:off x="8534187" y="4613148"/>
            <a:ext cx="1219170" cy="74066"/>
          </a:xfrm>
          <a:prstGeom prst="line">
            <a:avLst/>
          </a:prstGeom>
          <a:noFill/>
          <a:ln w="31750">
            <a:solidFill>
              <a:srgbClr val="3987E5"/>
            </a:solidFill>
            <a:prstDash val="solid"/>
          </a:ln>
        </p:spPr>
      </p:sp>
      <p:sp>
        <p:nvSpPr>
          <p:cNvPr id="32" name="Shape 30"/>
          <p:cNvSpPr/>
          <p:nvPr/>
        </p:nvSpPr>
        <p:spPr>
          <a:xfrm>
            <a:off x="9753356" y="4687214"/>
            <a:ext cx="1219170" cy="12344"/>
          </a:xfrm>
          <a:prstGeom prst="line">
            <a:avLst/>
          </a:prstGeom>
          <a:noFill/>
          <a:ln w="31750">
            <a:solidFill>
              <a:srgbClr val="3987E5"/>
            </a:solidFill>
            <a:prstDash val="solid"/>
          </a:ln>
        </p:spPr>
      </p:sp>
      <p:sp>
        <p:nvSpPr>
          <p:cNvPr id="33" name="Shape 31"/>
          <p:cNvSpPr/>
          <p:nvPr/>
        </p:nvSpPr>
        <p:spPr>
          <a:xfrm flipV="1">
            <a:off x="10972526" y="4687214"/>
            <a:ext cx="1219170" cy="12344"/>
          </a:xfrm>
          <a:prstGeom prst="line">
            <a:avLst/>
          </a:prstGeom>
          <a:noFill/>
          <a:ln w="31750">
            <a:solidFill>
              <a:srgbClr val="3987E5"/>
            </a:solidFill>
            <a:prstDash val="solid"/>
          </a:ln>
        </p:spPr>
      </p:sp>
      <p:sp>
        <p:nvSpPr>
          <p:cNvPr id="34" name="Text 32"/>
          <p:cNvSpPr/>
          <p:nvPr/>
        </p:nvSpPr>
        <p:spPr>
          <a:xfrm>
            <a:off x="5029200" y="3246120"/>
            <a:ext cx="1280160" cy="320040"/>
          </a:xfrm>
          <a:prstGeom prst="rect">
            <a:avLst/>
          </a:prstGeom>
          <a:noFill/>
          <a:ln/>
        </p:spPr>
        <p:txBody>
          <a:bodyPr wrap="square" lIns="0" tIns="0" rIns="0" bIns="0" rtlCol="0" anchor="ctr"/>
          <a:lstStyle/>
          <a:p>
            <a:pPr algn="ctr" indent="0" marL="0">
              <a:buNone/>
            </a:pPr>
            <a:r>
              <a:rPr lang="en-US" sz="1200" b="1" dirty="0">
                <a:solidFill>
                  <a:srgbClr val="E24B41"/>
                </a:solidFill>
                <a:latin typeface="Arial" pitchFamily="34" charset="0"/>
                <a:ea typeface="Arial" pitchFamily="34" charset="-122"/>
                <a:cs typeface="Arial" pitchFamily="34" charset="-120"/>
              </a:rPr>
              <a:t>GOAL</a:t>
            </a:r>
            <a:endParaRPr lang="en-US" sz="1200" dirty="0"/>
          </a:p>
        </p:txBody>
      </p:sp>
      <p:sp>
        <p:nvSpPr>
          <p:cNvPr id="35" name="Text 33"/>
          <p:cNvSpPr/>
          <p:nvPr/>
        </p:nvSpPr>
        <p:spPr>
          <a:xfrm>
            <a:off x="4754880" y="3547872"/>
            <a:ext cx="1828800" cy="274320"/>
          </a:xfrm>
          <a:prstGeom prst="rect">
            <a:avLst/>
          </a:prstGeom>
          <a:noFill/>
          <a:ln/>
        </p:spPr>
        <p:txBody>
          <a:bodyPr wrap="square" lIns="0" tIns="0" rIns="0" bIns="0" rtlCol="0" anchor="ctr"/>
          <a:lstStyle/>
          <a:p>
            <a:pPr algn="ctr" indent="0" marL="0">
              <a:buNone/>
            </a:pPr>
            <a:r>
              <a:rPr lang="en-US" sz="1050" dirty="0">
                <a:solidFill>
                  <a:srgbClr val="E24B41"/>
                </a:solidFill>
                <a:latin typeface="Arial" pitchFamily="34" charset="0"/>
                <a:ea typeface="Arial" pitchFamily="34" charset="-122"/>
                <a:cs typeface="Arial" pitchFamily="34" charset="-120"/>
              </a:rPr>
              <a:t>↑ market panics</a:t>
            </a:r>
            <a:endParaRPr lang="en-US" sz="1050" dirty="0"/>
          </a:p>
        </p:txBody>
      </p:sp>
      <p:sp>
        <p:nvSpPr>
          <p:cNvPr id="36" name="Text 34"/>
          <p:cNvSpPr/>
          <p:nvPr/>
        </p:nvSpPr>
        <p:spPr>
          <a:xfrm>
            <a:off x="7955280" y="4892040"/>
            <a:ext cx="2194560" cy="292608"/>
          </a:xfrm>
          <a:prstGeom prst="rect">
            <a:avLst/>
          </a:prstGeom>
          <a:noFill/>
          <a:ln/>
        </p:spPr>
        <p:txBody>
          <a:bodyPr wrap="square" lIns="0" tIns="0" rIns="0" bIns="0" rtlCol="0" anchor="ctr"/>
          <a:lstStyle/>
          <a:p>
            <a:pPr algn="l" indent="0" marL="0">
              <a:buNone/>
            </a:pPr>
            <a:r>
              <a:rPr lang="en-US" sz="1200" b="1" dirty="0">
                <a:solidFill>
                  <a:srgbClr val="21B521"/>
                </a:solidFill>
                <a:latin typeface="Arial" pitchFamily="34" charset="0"/>
                <a:ea typeface="Arial" pitchFamily="34" charset="-122"/>
                <a:cs typeface="Arial" pitchFamily="34" charset="-120"/>
              </a:rPr>
              <a:t>FADE ↓ reverts</a:t>
            </a:r>
            <a:endParaRPr lang="en-US" sz="1200" dirty="0"/>
          </a:p>
        </p:txBody>
      </p:sp>
      <p:sp>
        <p:nvSpPr>
          <p:cNvPr id="37" name="Text 35"/>
          <p:cNvSpPr/>
          <p:nvPr/>
        </p:nvSpPr>
        <p:spPr>
          <a:xfrm>
            <a:off x="685800" y="1143000"/>
            <a:ext cx="8229600" cy="1051560"/>
          </a:xfrm>
          <a:prstGeom prst="rect">
            <a:avLst/>
          </a:prstGeom>
          <a:noFill/>
          <a:ln/>
        </p:spPr>
        <p:txBody>
          <a:bodyPr wrap="square" lIns="0" tIns="0" rIns="0" bIns="0" rtlCol="0" anchor="ctr"/>
          <a:lstStyle/>
          <a:p>
            <a:pPr indent="0" marL="0">
              <a:buNone/>
            </a:pPr>
            <a:r>
              <a:rPr lang="en-US" sz="7000" b="1" spc="100" kern="0" dirty="0">
                <a:solidFill>
                  <a:srgbClr val="FFFFFF"/>
                </a:solidFill>
                <a:latin typeface="Arial" pitchFamily="34" charset="0"/>
                <a:ea typeface="Arial" pitchFamily="34" charset="-122"/>
                <a:cs typeface="Arial" pitchFamily="34" charset="-120"/>
              </a:rPr>
              <a:t>FADE</a:t>
            </a:r>
            <a:pPr indent="0" marL="0">
              <a:buNone/>
            </a:pPr>
            <a:r>
              <a:rPr lang="en-US" sz="7000" b="1" spc="100" kern="0" dirty="0">
                <a:solidFill>
                  <a:srgbClr val="3987E5"/>
                </a:solidFill>
                <a:latin typeface="Arial" pitchFamily="34" charset="0"/>
                <a:ea typeface="Arial" pitchFamily="34" charset="-122"/>
                <a:cs typeface="Arial" pitchFamily="34" charset="-120"/>
              </a:rPr>
              <a:t>CAST</a:t>
            </a:r>
            <a:endParaRPr lang="en-US" sz="7000" dirty="0"/>
          </a:p>
        </p:txBody>
      </p:sp>
      <p:sp>
        <p:nvSpPr>
          <p:cNvPr id="38" name="Text 36"/>
          <p:cNvSpPr/>
          <p:nvPr/>
        </p:nvSpPr>
        <p:spPr>
          <a:xfrm>
            <a:off x="713232" y="2331720"/>
            <a:ext cx="10058400" cy="548640"/>
          </a:xfrm>
          <a:prstGeom prst="rect">
            <a:avLst/>
          </a:prstGeom>
          <a:noFill/>
          <a:ln/>
        </p:spPr>
        <p:txBody>
          <a:bodyPr wrap="square" lIns="0" tIns="0" rIns="0" bIns="0" rtlCol="0" anchor="ctr"/>
          <a:lstStyle/>
          <a:p>
            <a:pPr indent="0" marL="0">
              <a:buNone/>
            </a:pPr>
            <a:r>
              <a:rPr lang="en-US" sz="2500" dirty="0">
                <a:solidFill>
                  <a:srgbClr val="FFFFFF"/>
                </a:solidFill>
                <a:latin typeface="Arial" pitchFamily="34" charset="0"/>
                <a:ea typeface="Arial" pitchFamily="34" charset="-122"/>
                <a:cs typeface="Arial" pitchFamily="34" charset="-120"/>
              </a:rPr>
              <a:t>The trading agent that can't lie about its record.</a:t>
            </a:r>
            <a:endParaRPr lang="en-US" sz="2500" dirty="0"/>
          </a:p>
        </p:txBody>
      </p:sp>
      <p:sp>
        <p:nvSpPr>
          <p:cNvPr id="39" name="Text 37"/>
          <p:cNvSpPr/>
          <p:nvPr/>
        </p:nvSpPr>
        <p:spPr>
          <a:xfrm>
            <a:off x="713232" y="2907792"/>
            <a:ext cx="8778240" cy="548640"/>
          </a:xfrm>
          <a:prstGeom prst="rect">
            <a:avLst/>
          </a:prstGeom>
          <a:noFill/>
          <a:ln/>
        </p:spPr>
        <p:txBody>
          <a:bodyPr wrap="square" lIns="0" tIns="0" rIns="0" bIns="0" rtlCol="0" anchor="ctr"/>
          <a:lstStyle/>
          <a:p>
            <a:pPr indent="0" marL="0">
              <a:buNone/>
            </a:pPr>
            <a:r>
              <a:rPr lang="en-US" sz="1500" dirty="0">
                <a:solidFill>
                  <a:srgbClr val="C7C6BB"/>
                </a:solidFill>
                <a:latin typeface="Arial" pitchFamily="34" charset="0"/>
                <a:ea typeface="Arial" pitchFamily="34" charset="-122"/>
                <a:cs typeface="Arial" pitchFamily="34" charset="-120"/>
              </a:rPr>
              <a:t>It fades crowd panic in live World Cup markets — and commits every call to Solana before the market resolves.</a:t>
            </a:r>
            <a:endParaRPr lang="en-US" sz="1500" dirty="0"/>
          </a:p>
        </p:txBody>
      </p:sp>
      <p:sp>
        <p:nvSpPr>
          <p:cNvPr id="40" name="Shape 38"/>
          <p:cNvSpPr/>
          <p:nvPr/>
        </p:nvSpPr>
        <p:spPr>
          <a:xfrm>
            <a:off x="713232" y="6172200"/>
            <a:ext cx="6766560" cy="365760"/>
          </a:xfrm>
          <a:prstGeom prst="roundRect">
            <a:avLst>
              <a:gd name="adj" fmla="val 50000"/>
            </a:avLst>
          </a:prstGeom>
          <a:solidFill>
            <a:srgbClr val="212120"/>
          </a:solidFill>
          <a:ln w="12700">
            <a:solidFill>
              <a:srgbClr val="323230"/>
            </a:solidFill>
            <a:prstDash val="solid"/>
          </a:ln>
        </p:spPr>
      </p:sp>
      <p:sp>
        <p:nvSpPr>
          <p:cNvPr id="41" name="Text 39"/>
          <p:cNvSpPr/>
          <p:nvPr/>
        </p:nvSpPr>
        <p:spPr>
          <a:xfrm>
            <a:off x="804672" y="6172200"/>
            <a:ext cx="6583680" cy="365760"/>
          </a:xfrm>
          <a:prstGeom prst="rect">
            <a:avLst/>
          </a:prstGeom>
          <a:noFill/>
          <a:ln/>
        </p:spPr>
        <p:txBody>
          <a:bodyPr wrap="square" lIns="0" tIns="0" rIns="0" bIns="0" rtlCol="0" anchor="ctr"/>
          <a:lstStyle/>
          <a:p>
            <a:pPr algn="ctr" indent="0" marL="0">
              <a:buNone/>
            </a:pPr>
            <a:r>
              <a:rPr lang="en-US" sz="1100" b="1" dirty="0">
                <a:solidFill>
                  <a:srgbClr val="8C8C84"/>
                </a:solidFill>
                <a:latin typeface="Arial" pitchFamily="34" charset="0"/>
                <a:ea typeface="Arial" pitchFamily="34" charset="-122"/>
                <a:cs typeface="Arial" pitchFamily="34" charset="-120"/>
              </a:rPr>
              <a:t>Superteam Malaysia  ×  TxOdds World Cup Hackathon   ·   Trading Tools &amp; Agents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pic>
        <p:nvPicPr>
          <p:cNvPr id="2" name="Image 0" descr="/Users/mesutozsoy/Desktop/fadecast/assets/hummingbird.jpg">    </p:cNvPr>
          <p:cNvPicPr>
            <a:picLocks noChangeAspect="1"/>
          </p:cNvPicPr>
          <p:nvPr/>
        </p:nvPicPr>
        <p:blipFill>
          <a:blip r:embed="rId1"/>
          <a:stretch>
            <a:fillRect/>
          </a:stretch>
        </p:blipFill>
        <p:spPr>
          <a:xfrm>
            <a:off x="640080" y="1188720"/>
            <a:ext cx="3749040" cy="4937760"/>
          </a:xfrm>
          <a:prstGeom prst="rect">
            <a:avLst/>
          </a:prstGeom>
          <a:effectLst>
            <a:outerShdw sx="100000" sy="100000" kx="0" ky="0" algn="bl" rotWithShape="0" blurRad="177800" dist="63500" dir="5400000">
              <a:srgbClr val="000000">
                <a:alpha val="55000"/>
              </a:srgbClr>
            </a:outerShdw>
          </a:effectLst>
        </p:spPr>
      </p:pic>
      <p:sp>
        <p:nvSpPr>
          <p:cNvPr id="3" name="Text 0"/>
          <p:cNvSpPr/>
          <p:nvPr/>
        </p:nvSpPr>
        <p:spPr>
          <a:xfrm>
            <a:off x="4800600" y="1280160"/>
            <a:ext cx="6675120" cy="365760"/>
          </a:xfrm>
          <a:prstGeom prst="rect">
            <a:avLst/>
          </a:prstGeom>
          <a:noFill/>
          <a:ln/>
        </p:spPr>
        <p:txBody>
          <a:bodyPr wrap="square" lIns="0" tIns="0" rIns="0" bIns="0" rtlCol="0" anchor="ctr"/>
          <a:lstStyle/>
          <a:p>
            <a:pPr indent="0" marL="0">
              <a:buNone/>
            </a:pPr>
            <a:r>
              <a:rPr lang="en-US" sz="1300" b="1" spc="300" kern="0" dirty="0">
                <a:solidFill>
                  <a:srgbClr val="8C8C84"/>
                </a:solidFill>
                <a:latin typeface="Arial" pitchFamily="34" charset="0"/>
                <a:ea typeface="Arial" pitchFamily="34" charset="-122"/>
                <a:cs typeface="Arial" pitchFamily="34" charset="-120"/>
              </a:rPr>
              <a:t>BEFORE WE START</a:t>
            </a:r>
            <a:endParaRPr lang="en-US" sz="1300" dirty="0"/>
          </a:p>
        </p:txBody>
      </p:sp>
      <p:sp>
        <p:nvSpPr>
          <p:cNvPr id="4" name="Text 1"/>
          <p:cNvSpPr/>
          <p:nvPr/>
        </p:nvSpPr>
        <p:spPr>
          <a:xfrm>
            <a:off x="4800600" y="1691640"/>
            <a:ext cx="6766560" cy="1234440"/>
          </a:xfrm>
          <a:prstGeom prst="rect">
            <a:avLst/>
          </a:prstGeom>
          <a:noFill/>
          <a:ln/>
        </p:spPr>
        <p:txBody>
          <a:bodyPr wrap="square" lIns="0" tIns="0" rIns="0" bIns="0" rtlCol="0" anchor="ctr"/>
          <a:lstStyle/>
          <a:p>
            <a:pPr indent="0" marL="0">
              <a:lnSpc>
                <a:spcPct val="100000"/>
              </a:lnSpc>
              <a:buNone/>
            </a:pPr>
            <a:r>
              <a:rPr lang="en-US" sz="3300" b="1" dirty="0">
                <a:solidFill>
                  <a:srgbClr val="FFFFFF"/>
                </a:solidFill>
                <a:latin typeface="Arial" pitchFamily="34" charset="0"/>
                <a:ea typeface="Arial" pitchFamily="34" charset="-122"/>
                <a:cs typeface="Arial" pitchFamily="34" charset="-120"/>
              </a:rPr>
              <a:t>Have you seen The Hummingbird Project?</a:t>
            </a:r>
            <a:endParaRPr lang="en-US" sz="3300" dirty="0"/>
          </a:p>
        </p:txBody>
      </p:sp>
      <p:sp>
        <p:nvSpPr>
          <p:cNvPr id="5" name="Text 2"/>
          <p:cNvSpPr/>
          <p:nvPr/>
        </p:nvSpPr>
        <p:spPr>
          <a:xfrm>
            <a:off x="4800600" y="3063240"/>
            <a:ext cx="6720840" cy="1005840"/>
          </a:xfrm>
          <a:prstGeom prst="rect">
            <a:avLst/>
          </a:prstGeom>
          <a:noFill/>
          <a:ln/>
        </p:spPr>
        <p:txBody>
          <a:bodyPr wrap="square" lIns="0" tIns="0" rIns="0" bIns="0" rtlCol="0" anchor="ctr"/>
          <a:lstStyle/>
          <a:p>
            <a:pPr indent="0" marL="0">
              <a:buNone/>
            </a:pPr>
            <a:r>
              <a:rPr lang="en-US" sz="1600" dirty="0">
                <a:solidFill>
                  <a:srgbClr val="C7C6BB"/>
                </a:solidFill>
                <a:latin typeface="Arial" pitchFamily="34" charset="0"/>
                <a:ea typeface="Arial" pitchFamily="34" charset="-122"/>
                <a:cs typeface="Arial" pitchFamily="34" charset="-120"/>
              </a:rPr>
              <a:t>Two traders bet everything on beating the market by its microstructure — laying a straighter fibre-optic line to shave one millisecond off every trade.</a:t>
            </a:r>
            <a:endParaRPr lang="en-US" sz="1600" dirty="0"/>
          </a:p>
        </p:txBody>
      </p:sp>
      <p:sp>
        <p:nvSpPr>
          <p:cNvPr id="6" name="Shape 3"/>
          <p:cNvSpPr/>
          <p:nvPr/>
        </p:nvSpPr>
        <p:spPr>
          <a:xfrm>
            <a:off x="4800600" y="4160520"/>
            <a:ext cx="6720840" cy="1234440"/>
          </a:xfrm>
          <a:prstGeom prst="roundRect">
            <a:avLst>
              <a:gd name="adj" fmla="val 7407"/>
            </a:avLst>
          </a:prstGeom>
          <a:solidFill>
            <a:srgbClr val="212120"/>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7" name="Text 4"/>
          <p:cNvSpPr/>
          <p:nvPr/>
        </p:nvSpPr>
        <p:spPr>
          <a:xfrm>
            <a:off x="5120640" y="4160520"/>
            <a:ext cx="6080760" cy="1234440"/>
          </a:xfrm>
          <a:prstGeom prst="rect">
            <a:avLst/>
          </a:prstGeom>
          <a:noFill/>
          <a:ln/>
        </p:spPr>
        <p:txBody>
          <a:bodyPr wrap="square" lIns="0" tIns="0" rIns="0" bIns="0" rtlCol="0" anchor="ctr"/>
          <a:lstStyle/>
          <a:p>
            <a:pPr indent="0" marL="0">
              <a:buNone/>
            </a:pPr>
            <a:r>
              <a:rPr lang="en-US" sz="1700" dirty="0">
                <a:solidFill>
                  <a:srgbClr val="C7C6BB"/>
                </a:solidFill>
                <a:latin typeface="Arial" pitchFamily="34" charset="0"/>
                <a:ea typeface="Arial" pitchFamily="34" charset="-122"/>
                <a:cs typeface="Arial" pitchFamily="34" charset="-120"/>
              </a:rPr>
              <a:t>They raced for </a:t>
            </a:r>
            <a:pPr indent="0" marL="0">
              <a:buNone/>
            </a:pPr>
            <a:r>
              <a:rPr lang="en-US" sz="1700" b="1" dirty="0">
                <a:solidFill>
                  <a:srgbClr val="FAB219"/>
                </a:solidFill>
                <a:latin typeface="Arial" pitchFamily="34" charset="0"/>
                <a:ea typeface="Arial" pitchFamily="34" charset="-122"/>
                <a:cs typeface="Arial" pitchFamily="34" charset="-120"/>
              </a:rPr>
              <a:t>SPEED</a:t>
            </a:r>
            <a:pPr indent="0" marL="0">
              <a:buNone/>
            </a:pPr>
            <a:r>
              <a:rPr lang="en-US" sz="1700" dirty="0">
                <a:solidFill>
                  <a:srgbClr val="C7C6BB"/>
                </a:solidFill>
                <a:latin typeface="Arial" pitchFamily="34" charset="0"/>
                <a:ea typeface="Arial" pitchFamily="34" charset="-122"/>
                <a:cs typeface="Arial" pitchFamily="34" charset="-120"/>
              </a:rPr>
              <a:t>.  FadeCast bets on being </a:t>
            </a:r>
            <a:pPr indent="0" marL="0">
              <a:buNone/>
            </a:pPr>
            <a:r>
              <a:rPr lang="en-US" sz="1700" b="1" dirty="0">
                <a:solidFill>
                  <a:srgbClr val="21B521"/>
                </a:solidFill>
                <a:latin typeface="Arial" pitchFamily="34" charset="0"/>
                <a:ea typeface="Arial" pitchFamily="34" charset="-122"/>
                <a:cs typeface="Arial" pitchFamily="34" charset="-120"/>
              </a:rPr>
              <a:t>RIGHT</a:t>
            </a:r>
            <a:pPr indent="0" marL="0">
              <a:buNone/>
            </a:pPr>
            <a:r>
              <a:rPr lang="en-US" sz="1700" dirty="0">
                <a:solidFill>
                  <a:srgbClr val="C7C6BB"/>
                </a:solidFill>
                <a:latin typeface="Arial" pitchFamily="34" charset="0"/>
                <a:ea typeface="Arial" pitchFamily="34" charset="-122"/>
                <a:cs typeface="Arial" pitchFamily="34" charset="-120"/>
              </a:rPr>
              <a:t> — we don't race the market, we fade it when it panics.</a:t>
            </a:r>
            <a:endParaRPr lang="en-US" sz="1700" dirty="0"/>
          </a:p>
        </p:txBody>
      </p:sp>
      <p:sp>
        <p:nvSpPr>
          <p:cNvPr id="8" name="Shape 5"/>
          <p:cNvSpPr/>
          <p:nvPr/>
        </p:nvSpPr>
        <p:spPr>
          <a:xfrm>
            <a:off x="4800600" y="5669280"/>
            <a:ext cx="3794760" cy="365760"/>
          </a:xfrm>
          <a:prstGeom prst="roundRect">
            <a:avLst>
              <a:gd name="adj" fmla="val 50000"/>
            </a:avLst>
          </a:prstGeom>
          <a:solidFill>
            <a:srgbClr val="212120"/>
          </a:solidFill>
          <a:ln w="12700">
            <a:solidFill>
              <a:srgbClr val="323230"/>
            </a:solidFill>
            <a:prstDash val="solid"/>
          </a:ln>
        </p:spPr>
      </p:sp>
      <p:sp>
        <p:nvSpPr>
          <p:cNvPr id="9" name="Text 6"/>
          <p:cNvSpPr/>
          <p:nvPr/>
        </p:nvSpPr>
        <p:spPr>
          <a:xfrm>
            <a:off x="4892040" y="5669280"/>
            <a:ext cx="3611880" cy="365760"/>
          </a:xfrm>
          <a:prstGeom prst="rect">
            <a:avLst/>
          </a:prstGeom>
          <a:noFill/>
          <a:ln/>
        </p:spPr>
        <p:txBody>
          <a:bodyPr wrap="square" lIns="0" tIns="0" rIns="0" bIns="0" rtlCol="0" anchor="ctr"/>
          <a:lstStyle/>
          <a:p>
            <a:pPr algn="ctr" indent="0" marL="0">
              <a:buNone/>
            </a:pPr>
            <a:r>
              <a:rPr lang="en-US" sz="1100" b="1" dirty="0">
                <a:solidFill>
                  <a:srgbClr val="7DB2F5"/>
                </a:solidFill>
                <a:latin typeface="Arial" pitchFamily="34" charset="0"/>
                <a:ea typeface="Arial" pitchFamily="34" charset="-122"/>
                <a:cs typeface="Arial" pitchFamily="34" charset="-120"/>
              </a:rPr>
              <a:t>Same obsession  ·  opposite edge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40080" y="438912"/>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Two broken things</a:t>
            </a:r>
            <a:endParaRPr lang="en-US" sz="3200" dirty="0"/>
          </a:p>
        </p:txBody>
      </p:sp>
      <p:sp>
        <p:nvSpPr>
          <p:cNvPr id="3" name="Text 1"/>
          <p:cNvSpPr/>
          <p:nvPr/>
        </p:nvSpPr>
        <p:spPr>
          <a:xfrm>
            <a:off x="658368" y="1097280"/>
            <a:ext cx="10972800" cy="384048"/>
          </a:xfrm>
          <a:prstGeom prst="rect">
            <a:avLst/>
          </a:prstGeom>
          <a:noFill/>
          <a:ln/>
        </p:spPr>
        <p:txBody>
          <a:bodyPr wrap="square" lIns="0" tIns="0" rIns="0" bIns="0" rtlCol="0" anchor="ctr"/>
          <a:lstStyle/>
          <a:p>
            <a:pPr indent="0" marL="0">
              <a:buNone/>
            </a:pPr>
            <a:r>
              <a:rPr lang="en-US" sz="1500" dirty="0">
                <a:solidFill>
                  <a:srgbClr val="8C8C84"/>
                </a:solidFill>
                <a:latin typeface="Arial" pitchFamily="34" charset="0"/>
                <a:ea typeface="Arial" pitchFamily="34" charset="-122"/>
                <a:cs typeface="Arial" pitchFamily="34" charset="-120"/>
              </a:rPr>
              <a:t>One mechanism fixes both.</a:t>
            </a:r>
            <a:endParaRPr lang="en-US" sz="1500" dirty="0"/>
          </a:p>
        </p:txBody>
      </p:sp>
      <p:sp>
        <p:nvSpPr>
          <p:cNvPr id="4" name="Shape 2"/>
          <p:cNvSpPr/>
          <p:nvPr/>
        </p:nvSpPr>
        <p:spPr>
          <a:xfrm>
            <a:off x="640080" y="1828800"/>
            <a:ext cx="5349240" cy="3246120"/>
          </a:xfrm>
          <a:prstGeom prst="roundRect">
            <a:avLst>
              <a:gd name="adj" fmla="val 2817"/>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5" name="Text 3"/>
          <p:cNvSpPr/>
          <p:nvPr/>
        </p:nvSpPr>
        <p:spPr>
          <a:xfrm>
            <a:off x="914400" y="2057400"/>
            <a:ext cx="457200" cy="457200"/>
          </a:xfrm>
          <a:prstGeom prst="rect">
            <a:avLst/>
          </a:prstGeom>
          <a:noFill/>
          <a:ln/>
        </p:spPr>
        <p:txBody>
          <a:bodyPr wrap="square" lIns="0" tIns="0" rIns="0" bIns="0" rtlCol="0" anchor="ctr"/>
          <a:lstStyle/>
          <a:p>
            <a:pPr indent="0" marL="0">
              <a:buNone/>
            </a:pPr>
            <a:r>
              <a:rPr lang="en-US" sz="2000" b="1" dirty="0">
                <a:solidFill>
                  <a:srgbClr val="3987E5"/>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417320" y="2084832"/>
            <a:ext cx="429768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market overreacts</a:t>
            </a:r>
            <a:endParaRPr lang="en-US" sz="1900" dirty="0"/>
          </a:p>
        </p:txBody>
      </p:sp>
      <p:sp>
        <p:nvSpPr>
          <p:cNvPr id="7" name="Text 5"/>
          <p:cNvSpPr/>
          <p:nvPr/>
        </p:nvSpPr>
        <p:spPr>
          <a:xfrm>
            <a:off x="914400" y="2606040"/>
            <a:ext cx="4800600" cy="822960"/>
          </a:xfrm>
          <a:prstGeom prst="rect">
            <a:avLst/>
          </a:prstGeom>
          <a:noFill/>
          <a:ln/>
        </p:spPr>
        <p:txBody>
          <a:bodyPr wrap="square" lIns="0" tIns="0" rIns="0" bIns="0" rtlCol="0" anchor="ctr"/>
          <a:lstStyle/>
          <a:p>
            <a:pPr indent="0" marL="0">
              <a:buNone/>
            </a:pPr>
            <a:r>
              <a:rPr lang="en-US" sz="1400" dirty="0">
                <a:solidFill>
                  <a:srgbClr val="C7C6BB"/>
                </a:solidFill>
                <a:latin typeface="Arial" pitchFamily="34" charset="0"/>
                <a:ea typeface="Arial" pitchFamily="34" charset="-122"/>
                <a:cs typeface="Arial" pitchFamily="34" charset="-120"/>
              </a:rPr>
              <a:t>A goal hits and in-play odds spike past fair value — then mean-revert over the next few minutes.</a:t>
            </a:r>
            <a:endParaRPr lang="en-US" sz="1400" dirty="0"/>
          </a:p>
        </p:txBody>
      </p:sp>
      <p:sp>
        <p:nvSpPr>
          <p:cNvPr id="8" name="Shape 6"/>
          <p:cNvSpPr/>
          <p:nvPr/>
        </p:nvSpPr>
        <p:spPr>
          <a:xfrm flipV="1">
            <a:off x="914400" y="4341114"/>
            <a:ext cx="285293" cy="10516"/>
          </a:xfrm>
          <a:prstGeom prst="line">
            <a:avLst/>
          </a:prstGeom>
          <a:noFill/>
          <a:ln w="25400">
            <a:solidFill>
              <a:srgbClr val="3987E5"/>
            </a:solidFill>
            <a:prstDash val="solid"/>
          </a:ln>
        </p:spPr>
      </p:sp>
      <p:sp>
        <p:nvSpPr>
          <p:cNvPr id="9" name="Shape 7"/>
          <p:cNvSpPr/>
          <p:nvPr/>
        </p:nvSpPr>
        <p:spPr>
          <a:xfrm>
            <a:off x="1199693" y="4341114"/>
            <a:ext cx="285293" cy="21031"/>
          </a:xfrm>
          <a:prstGeom prst="line">
            <a:avLst/>
          </a:prstGeom>
          <a:noFill/>
          <a:ln w="25400">
            <a:solidFill>
              <a:srgbClr val="3987E5"/>
            </a:solidFill>
            <a:prstDash val="solid"/>
          </a:ln>
        </p:spPr>
      </p:sp>
      <p:sp>
        <p:nvSpPr>
          <p:cNvPr id="10" name="Shape 8"/>
          <p:cNvSpPr/>
          <p:nvPr/>
        </p:nvSpPr>
        <p:spPr>
          <a:xfrm flipV="1">
            <a:off x="1484986" y="4341114"/>
            <a:ext cx="285293" cy="21031"/>
          </a:xfrm>
          <a:prstGeom prst="line">
            <a:avLst/>
          </a:prstGeom>
          <a:noFill/>
          <a:ln w="25400">
            <a:solidFill>
              <a:srgbClr val="3987E5"/>
            </a:solidFill>
            <a:prstDash val="solid"/>
          </a:ln>
        </p:spPr>
      </p:sp>
      <p:sp>
        <p:nvSpPr>
          <p:cNvPr id="11" name="Shape 9"/>
          <p:cNvSpPr/>
          <p:nvPr/>
        </p:nvSpPr>
        <p:spPr>
          <a:xfrm>
            <a:off x="1770278" y="4341114"/>
            <a:ext cx="285293" cy="21031"/>
          </a:xfrm>
          <a:prstGeom prst="line">
            <a:avLst/>
          </a:prstGeom>
          <a:noFill/>
          <a:ln w="25400">
            <a:solidFill>
              <a:srgbClr val="3987E5"/>
            </a:solidFill>
            <a:prstDash val="solid"/>
          </a:ln>
        </p:spPr>
      </p:sp>
      <p:sp>
        <p:nvSpPr>
          <p:cNvPr id="12" name="Shape 10"/>
          <p:cNvSpPr/>
          <p:nvPr/>
        </p:nvSpPr>
        <p:spPr>
          <a:xfrm flipV="1">
            <a:off x="2055571" y="4341114"/>
            <a:ext cx="285293" cy="21031"/>
          </a:xfrm>
          <a:prstGeom prst="line">
            <a:avLst/>
          </a:prstGeom>
          <a:noFill/>
          <a:ln w="25400">
            <a:solidFill>
              <a:srgbClr val="3987E5"/>
            </a:solidFill>
            <a:prstDash val="solid"/>
          </a:ln>
        </p:spPr>
      </p:sp>
      <p:sp>
        <p:nvSpPr>
          <p:cNvPr id="13" name="Shape 11"/>
          <p:cNvSpPr/>
          <p:nvPr/>
        </p:nvSpPr>
        <p:spPr>
          <a:xfrm>
            <a:off x="2340864" y="4341114"/>
            <a:ext cx="285293" cy="10516"/>
          </a:xfrm>
          <a:prstGeom prst="line">
            <a:avLst/>
          </a:prstGeom>
          <a:noFill/>
          <a:ln w="25400">
            <a:solidFill>
              <a:srgbClr val="3987E5"/>
            </a:solidFill>
            <a:prstDash val="solid"/>
          </a:ln>
        </p:spPr>
      </p:sp>
      <p:sp>
        <p:nvSpPr>
          <p:cNvPr id="14" name="Shape 12"/>
          <p:cNvSpPr/>
          <p:nvPr/>
        </p:nvSpPr>
        <p:spPr>
          <a:xfrm flipV="1">
            <a:off x="2626157" y="4183380"/>
            <a:ext cx="190195" cy="168250"/>
          </a:xfrm>
          <a:prstGeom prst="line">
            <a:avLst/>
          </a:prstGeom>
          <a:noFill/>
          <a:ln w="25400">
            <a:solidFill>
              <a:srgbClr val="3987E5"/>
            </a:solidFill>
            <a:prstDash val="solid"/>
          </a:ln>
        </p:spPr>
      </p:sp>
      <p:sp>
        <p:nvSpPr>
          <p:cNvPr id="15" name="Shape 13"/>
          <p:cNvSpPr/>
          <p:nvPr/>
        </p:nvSpPr>
        <p:spPr>
          <a:xfrm flipV="1">
            <a:off x="2816352" y="3931006"/>
            <a:ext cx="190195" cy="252374"/>
          </a:xfrm>
          <a:prstGeom prst="line">
            <a:avLst/>
          </a:prstGeom>
          <a:noFill/>
          <a:ln w="25400">
            <a:solidFill>
              <a:srgbClr val="3987E5"/>
            </a:solidFill>
            <a:prstDash val="solid"/>
          </a:ln>
        </p:spPr>
      </p:sp>
      <p:sp>
        <p:nvSpPr>
          <p:cNvPr id="16" name="Shape 14"/>
          <p:cNvSpPr/>
          <p:nvPr/>
        </p:nvSpPr>
        <p:spPr>
          <a:xfrm flipV="1">
            <a:off x="3006547" y="3804818"/>
            <a:ext cx="142646" cy="126187"/>
          </a:xfrm>
          <a:prstGeom prst="line">
            <a:avLst/>
          </a:prstGeom>
          <a:noFill/>
          <a:ln w="25400">
            <a:solidFill>
              <a:srgbClr val="3987E5"/>
            </a:solidFill>
            <a:prstDash val="solid"/>
          </a:ln>
        </p:spPr>
      </p:sp>
      <p:sp>
        <p:nvSpPr>
          <p:cNvPr id="17" name="Shape 15"/>
          <p:cNvSpPr/>
          <p:nvPr/>
        </p:nvSpPr>
        <p:spPr>
          <a:xfrm>
            <a:off x="3149194" y="3804818"/>
            <a:ext cx="190195" cy="31547"/>
          </a:xfrm>
          <a:prstGeom prst="line">
            <a:avLst/>
          </a:prstGeom>
          <a:noFill/>
          <a:ln w="25400">
            <a:solidFill>
              <a:srgbClr val="3987E5"/>
            </a:solidFill>
            <a:prstDash val="solid"/>
          </a:ln>
        </p:spPr>
      </p:sp>
      <p:sp>
        <p:nvSpPr>
          <p:cNvPr id="18" name="Shape 16"/>
          <p:cNvSpPr/>
          <p:nvPr/>
        </p:nvSpPr>
        <p:spPr>
          <a:xfrm>
            <a:off x="3339389" y="3836365"/>
            <a:ext cx="237744" cy="73609"/>
          </a:xfrm>
          <a:prstGeom prst="line">
            <a:avLst/>
          </a:prstGeom>
          <a:noFill/>
          <a:ln w="25400">
            <a:solidFill>
              <a:srgbClr val="3987E5"/>
            </a:solidFill>
            <a:prstDash val="solid"/>
          </a:ln>
        </p:spPr>
      </p:sp>
      <p:sp>
        <p:nvSpPr>
          <p:cNvPr id="19" name="Shape 17"/>
          <p:cNvSpPr/>
          <p:nvPr/>
        </p:nvSpPr>
        <p:spPr>
          <a:xfrm>
            <a:off x="3577133" y="3909974"/>
            <a:ext cx="285293" cy="63094"/>
          </a:xfrm>
          <a:prstGeom prst="line">
            <a:avLst/>
          </a:prstGeom>
          <a:noFill/>
          <a:ln w="25400">
            <a:solidFill>
              <a:srgbClr val="3987E5"/>
            </a:solidFill>
            <a:prstDash val="solid"/>
          </a:ln>
        </p:spPr>
      </p:sp>
      <p:sp>
        <p:nvSpPr>
          <p:cNvPr id="20" name="Shape 18"/>
          <p:cNvSpPr/>
          <p:nvPr/>
        </p:nvSpPr>
        <p:spPr>
          <a:xfrm>
            <a:off x="3862426" y="3973068"/>
            <a:ext cx="380390" cy="52578"/>
          </a:xfrm>
          <a:prstGeom prst="line">
            <a:avLst/>
          </a:prstGeom>
          <a:noFill/>
          <a:ln w="25400">
            <a:solidFill>
              <a:srgbClr val="3987E5"/>
            </a:solidFill>
            <a:prstDash val="solid"/>
          </a:ln>
        </p:spPr>
      </p:sp>
      <p:sp>
        <p:nvSpPr>
          <p:cNvPr id="21" name="Shape 19"/>
          <p:cNvSpPr/>
          <p:nvPr/>
        </p:nvSpPr>
        <p:spPr>
          <a:xfrm>
            <a:off x="4242816" y="4025646"/>
            <a:ext cx="475488" cy="31547"/>
          </a:xfrm>
          <a:prstGeom prst="line">
            <a:avLst/>
          </a:prstGeom>
          <a:noFill/>
          <a:ln w="25400">
            <a:solidFill>
              <a:srgbClr val="3987E5"/>
            </a:solidFill>
            <a:prstDash val="solid"/>
          </a:ln>
        </p:spPr>
      </p:sp>
      <p:sp>
        <p:nvSpPr>
          <p:cNvPr id="22" name="Shape 20"/>
          <p:cNvSpPr/>
          <p:nvPr/>
        </p:nvSpPr>
        <p:spPr>
          <a:xfrm>
            <a:off x="4718304" y="4057193"/>
            <a:ext cx="475488" cy="5258"/>
          </a:xfrm>
          <a:prstGeom prst="line">
            <a:avLst/>
          </a:prstGeom>
          <a:noFill/>
          <a:ln w="25400">
            <a:solidFill>
              <a:srgbClr val="3987E5"/>
            </a:solidFill>
            <a:prstDash val="solid"/>
          </a:ln>
        </p:spPr>
      </p:sp>
      <p:sp>
        <p:nvSpPr>
          <p:cNvPr id="23" name="Shape 21"/>
          <p:cNvSpPr/>
          <p:nvPr/>
        </p:nvSpPr>
        <p:spPr>
          <a:xfrm flipV="1">
            <a:off x="5193792" y="4057193"/>
            <a:ext cx="475488" cy="5258"/>
          </a:xfrm>
          <a:prstGeom prst="line">
            <a:avLst/>
          </a:prstGeom>
          <a:noFill/>
          <a:ln w="25400">
            <a:solidFill>
              <a:srgbClr val="3987E5"/>
            </a:solidFill>
            <a:prstDash val="solid"/>
          </a:ln>
        </p:spPr>
      </p:sp>
      <p:sp>
        <p:nvSpPr>
          <p:cNvPr id="24" name="Text 22"/>
          <p:cNvSpPr/>
          <p:nvPr/>
        </p:nvSpPr>
        <p:spPr>
          <a:xfrm>
            <a:off x="914400" y="4736592"/>
            <a:ext cx="4754880" cy="292608"/>
          </a:xfrm>
          <a:prstGeom prst="rect">
            <a:avLst/>
          </a:prstGeom>
          <a:noFill/>
          <a:ln/>
        </p:spPr>
        <p:txBody>
          <a:bodyPr wrap="square" lIns="0" tIns="0" rIns="0" bIns="0" rtlCol="0" anchor="ctr"/>
          <a:lstStyle/>
          <a:p>
            <a:pPr indent="0" marL="0">
              <a:buNone/>
            </a:pPr>
            <a:r>
              <a:rPr lang="en-US" sz="1200" i="1" dirty="0">
                <a:solidFill>
                  <a:srgbClr val="8C8C84"/>
                </a:solidFill>
                <a:latin typeface="Arial" pitchFamily="34" charset="0"/>
                <a:ea typeface="Arial" pitchFamily="34" charset="-122"/>
                <a:cs typeface="Arial" pitchFamily="34" charset="-120"/>
              </a:rPr>
              <a:t>the overshoot is money left on the table</a:t>
            </a:r>
            <a:endParaRPr lang="en-US" sz="1200" dirty="0"/>
          </a:p>
        </p:txBody>
      </p:sp>
      <p:sp>
        <p:nvSpPr>
          <p:cNvPr id="25" name="Shape 23"/>
          <p:cNvSpPr/>
          <p:nvPr/>
        </p:nvSpPr>
        <p:spPr>
          <a:xfrm>
            <a:off x="6217920" y="1828800"/>
            <a:ext cx="5349240" cy="3246120"/>
          </a:xfrm>
          <a:prstGeom prst="roundRect">
            <a:avLst>
              <a:gd name="adj" fmla="val 2817"/>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26" name="Text 24"/>
          <p:cNvSpPr/>
          <p:nvPr/>
        </p:nvSpPr>
        <p:spPr>
          <a:xfrm>
            <a:off x="6492240" y="2057400"/>
            <a:ext cx="457200" cy="457200"/>
          </a:xfrm>
          <a:prstGeom prst="rect">
            <a:avLst/>
          </a:prstGeom>
          <a:noFill/>
          <a:ln/>
        </p:spPr>
        <p:txBody>
          <a:bodyPr wrap="square" lIns="0" tIns="0" rIns="0" bIns="0" rtlCol="0" anchor="ctr"/>
          <a:lstStyle/>
          <a:p>
            <a:pPr indent="0" marL="0">
              <a:buNone/>
            </a:pPr>
            <a:r>
              <a:rPr lang="en-US" sz="2000" b="1" dirty="0">
                <a:solidFill>
                  <a:srgbClr val="E24B41"/>
                </a:solidFill>
                <a:latin typeface="Arial" pitchFamily="34" charset="0"/>
                <a:ea typeface="Arial" pitchFamily="34" charset="-122"/>
                <a:cs typeface="Arial" pitchFamily="34" charset="-120"/>
              </a:rPr>
              <a:t>2</a:t>
            </a:r>
            <a:endParaRPr lang="en-US" sz="2000" dirty="0"/>
          </a:p>
        </p:txBody>
      </p:sp>
      <p:sp>
        <p:nvSpPr>
          <p:cNvPr id="27" name="Text 25"/>
          <p:cNvSpPr/>
          <p:nvPr/>
        </p:nvSpPr>
        <p:spPr>
          <a:xfrm>
            <a:off x="6995160" y="2084832"/>
            <a:ext cx="429768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Every predictor lies</a:t>
            </a:r>
            <a:endParaRPr lang="en-US" sz="1900" dirty="0"/>
          </a:p>
        </p:txBody>
      </p:sp>
      <p:sp>
        <p:nvSpPr>
          <p:cNvPr id="28" name="Text 26"/>
          <p:cNvSpPr/>
          <p:nvPr/>
        </p:nvSpPr>
        <p:spPr>
          <a:xfrm>
            <a:off x="6492240" y="2606040"/>
            <a:ext cx="4800600" cy="822960"/>
          </a:xfrm>
          <a:prstGeom prst="rect">
            <a:avLst/>
          </a:prstGeom>
          <a:noFill/>
          <a:ln/>
        </p:spPr>
        <p:txBody>
          <a:bodyPr wrap="square" lIns="0" tIns="0" rIns="0" bIns="0" rtlCol="0" anchor="ctr"/>
          <a:lstStyle/>
          <a:p>
            <a:pPr indent="0" marL="0">
              <a:buNone/>
            </a:pPr>
            <a:r>
              <a:rPr lang="en-US" sz="1400" dirty="0">
                <a:solidFill>
                  <a:srgbClr val="C7C6BB"/>
                </a:solidFill>
                <a:latin typeface="Arial" pitchFamily="34" charset="0"/>
                <a:ea typeface="Arial" pitchFamily="34" charset="-122"/>
                <a:cs typeface="Arial" pitchFamily="34" charset="-120"/>
              </a:rPr>
              <a:t>Tipsters, CT traders and “AI gurus” show you the winning screenshots and quietly delete the losing ones.</a:t>
            </a:r>
            <a:endParaRPr lang="en-US" sz="1400" dirty="0"/>
          </a:p>
        </p:txBody>
      </p:sp>
      <p:sp>
        <p:nvSpPr>
          <p:cNvPr id="29" name="Shape 27"/>
          <p:cNvSpPr/>
          <p:nvPr/>
        </p:nvSpPr>
        <p:spPr>
          <a:xfrm>
            <a:off x="6492240" y="3611880"/>
            <a:ext cx="2148840" cy="365760"/>
          </a:xfrm>
          <a:prstGeom prst="roundRect">
            <a:avLst>
              <a:gd name="adj" fmla="val 50000"/>
            </a:avLst>
          </a:prstGeom>
          <a:solidFill>
            <a:srgbClr val="212120"/>
          </a:solidFill>
          <a:ln w="12700">
            <a:solidFill>
              <a:srgbClr val="323230"/>
            </a:solidFill>
            <a:prstDash val="solid"/>
          </a:ln>
        </p:spPr>
      </p:sp>
      <p:sp>
        <p:nvSpPr>
          <p:cNvPr id="30" name="Text 28"/>
          <p:cNvSpPr/>
          <p:nvPr/>
        </p:nvSpPr>
        <p:spPr>
          <a:xfrm>
            <a:off x="6583680" y="3611880"/>
            <a:ext cx="1965960" cy="365760"/>
          </a:xfrm>
          <a:prstGeom prst="rect">
            <a:avLst/>
          </a:prstGeom>
          <a:noFill/>
          <a:ln/>
        </p:spPr>
        <p:txBody>
          <a:bodyPr wrap="square" lIns="0" tIns="0" rIns="0" bIns="0" rtlCol="0" anchor="ctr"/>
          <a:lstStyle/>
          <a:p>
            <a:pPr algn="ctr" indent="0" marL="0">
              <a:buNone/>
            </a:pPr>
            <a:r>
              <a:rPr lang="en-US" sz="1100" b="1" dirty="0">
                <a:solidFill>
                  <a:srgbClr val="21B521"/>
                </a:solidFill>
                <a:latin typeface="Arial" pitchFamily="34" charset="0"/>
                <a:ea typeface="Arial" pitchFamily="34" charset="-122"/>
                <a:cs typeface="Arial" pitchFamily="34" charset="-120"/>
              </a:rPr>
              <a:t>✓  posted the win</a:t>
            </a:r>
            <a:endParaRPr lang="en-US" sz="1100" dirty="0"/>
          </a:p>
        </p:txBody>
      </p:sp>
      <p:sp>
        <p:nvSpPr>
          <p:cNvPr id="31" name="Shape 29"/>
          <p:cNvSpPr/>
          <p:nvPr/>
        </p:nvSpPr>
        <p:spPr>
          <a:xfrm>
            <a:off x="8778240" y="3611880"/>
            <a:ext cx="2331720" cy="365760"/>
          </a:xfrm>
          <a:prstGeom prst="roundRect">
            <a:avLst>
              <a:gd name="adj" fmla="val 50000"/>
            </a:avLst>
          </a:prstGeom>
          <a:solidFill>
            <a:srgbClr val="212120"/>
          </a:solidFill>
          <a:ln w="12700">
            <a:solidFill>
              <a:srgbClr val="323230"/>
            </a:solidFill>
            <a:prstDash val="solid"/>
          </a:ln>
        </p:spPr>
      </p:sp>
      <p:sp>
        <p:nvSpPr>
          <p:cNvPr id="32" name="Text 30"/>
          <p:cNvSpPr/>
          <p:nvPr/>
        </p:nvSpPr>
        <p:spPr>
          <a:xfrm>
            <a:off x="8869680" y="3611880"/>
            <a:ext cx="2148840" cy="365760"/>
          </a:xfrm>
          <a:prstGeom prst="rect">
            <a:avLst/>
          </a:prstGeom>
          <a:noFill/>
          <a:ln/>
        </p:spPr>
        <p:txBody>
          <a:bodyPr wrap="square" lIns="0" tIns="0" rIns="0" bIns="0" rtlCol="0" anchor="ctr"/>
          <a:lstStyle/>
          <a:p>
            <a:pPr algn="ctr" indent="0" marL="0">
              <a:buNone/>
            </a:pPr>
            <a:r>
              <a:rPr lang="en-US" sz="1100" b="1" dirty="0">
                <a:solidFill>
                  <a:srgbClr val="E24B41"/>
                </a:solidFill>
                <a:latin typeface="Arial" pitchFamily="34" charset="0"/>
                <a:ea typeface="Arial" pitchFamily="34" charset="-122"/>
                <a:cs typeface="Arial" pitchFamily="34" charset="-120"/>
              </a:rPr>
              <a:t>✕  deleted the loss</a:t>
            </a:r>
            <a:endParaRPr lang="en-US" sz="1100" dirty="0"/>
          </a:p>
        </p:txBody>
      </p:sp>
      <p:sp>
        <p:nvSpPr>
          <p:cNvPr id="33" name="Text 31"/>
          <p:cNvSpPr/>
          <p:nvPr/>
        </p:nvSpPr>
        <p:spPr>
          <a:xfrm>
            <a:off x="6492240" y="4224528"/>
            <a:ext cx="4800600" cy="640080"/>
          </a:xfrm>
          <a:prstGeom prst="rect">
            <a:avLst/>
          </a:prstGeom>
          <a:noFill/>
          <a:ln/>
        </p:spPr>
        <p:txBody>
          <a:bodyPr wrap="square" lIns="0" tIns="0" rIns="0" bIns="0" rtlCol="0" anchor="ctr"/>
          <a:lstStyle/>
          <a:p>
            <a:pPr indent="0" marL="0">
              <a:buNone/>
            </a:pPr>
            <a:r>
              <a:rPr lang="en-US" sz="1300" i="1" dirty="0">
                <a:solidFill>
                  <a:srgbClr val="8C8C84"/>
                </a:solidFill>
                <a:latin typeface="Arial" pitchFamily="34" charset="0"/>
                <a:ea typeface="Arial" pitchFamily="34" charset="-122"/>
                <a:cs typeface="Arial" pitchFamily="34" charset="-120"/>
              </a:rPr>
              <a:t>There is no verifiable track record. Survivorship bias is the whole game.</a:t>
            </a:r>
            <a:endParaRPr lang="en-US" sz="1300" dirty="0"/>
          </a:p>
        </p:txBody>
      </p:sp>
      <p:sp>
        <p:nvSpPr>
          <p:cNvPr id="34" name="Text 32"/>
          <p:cNvSpPr/>
          <p:nvPr/>
        </p:nvSpPr>
        <p:spPr>
          <a:xfrm>
            <a:off x="640080" y="5440680"/>
            <a:ext cx="10972800" cy="457200"/>
          </a:xfrm>
          <a:prstGeom prst="rect">
            <a:avLst/>
          </a:prstGeom>
          <a:noFill/>
          <a:ln/>
        </p:spPr>
        <p:txBody>
          <a:bodyPr wrap="square" lIns="0" tIns="0" rIns="0" bIns="0" rtlCol="0" anchor="ctr"/>
          <a:lstStyle/>
          <a:p>
            <a:pPr algn="ctr" indent="0" marL="0">
              <a:buNone/>
            </a:pPr>
            <a:r>
              <a:rPr lang="en-US" sz="1700" dirty="0">
                <a:solidFill>
                  <a:srgbClr val="C7C6BB"/>
                </a:solidFill>
                <a:latin typeface="Arial" pitchFamily="34" charset="0"/>
                <a:ea typeface="Arial" pitchFamily="34" charset="-122"/>
                <a:cs typeface="Arial" pitchFamily="34" charset="-120"/>
              </a:rPr>
              <a:t>FadeCast attacks both with one idea:  </a:t>
            </a:r>
            <a:pPr algn="ctr" indent="0" marL="0">
              <a:buNone/>
            </a:pPr>
            <a:r>
              <a:rPr lang="en-US" sz="1700" b="1" dirty="0">
                <a:solidFill>
                  <a:srgbClr val="3987E5"/>
                </a:solidFill>
                <a:latin typeface="Arial" pitchFamily="34" charset="0"/>
                <a:ea typeface="Arial" pitchFamily="34" charset="-122"/>
                <a:cs typeface="Arial" pitchFamily="34" charset="-120"/>
              </a:rPr>
              <a:t>commit the call on-chain, before it resolves.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40080" y="438912"/>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Fade the panic. Prove the call.</a:t>
            </a:r>
            <a:endParaRPr lang="en-US" sz="3200" dirty="0"/>
          </a:p>
        </p:txBody>
      </p:sp>
      <p:sp>
        <p:nvSpPr>
          <p:cNvPr id="3" name="Shape 1"/>
          <p:cNvSpPr/>
          <p:nvPr/>
        </p:nvSpPr>
        <p:spPr>
          <a:xfrm>
            <a:off x="822960" y="1783080"/>
            <a:ext cx="868680" cy="868680"/>
          </a:xfrm>
          <a:prstGeom prst="roundRect">
            <a:avLst>
              <a:gd name="adj" fmla="val 52632"/>
            </a:avLst>
          </a:prstGeom>
          <a:solidFill>
            <a:srgbClr val="1A1A19"/>
          </a:solidFill>
          <a:ln w="25400">
            <a:solidFill>
              <a:srgbClr val="3987E5"/>
            </a:solidFill>
            <a:prstDash val="solid"/>
          </a:ln>
        </p:spPr>
      </p:sp>
      <p:sp>
        <p:nvSpPr>
          <p:cNvPr id="4" name="Text 2"/>
          <p:cNvSpPr/>
          <p:nvPr/>
        </p:nvSpPr>
        <p:spPr>
          <a:xfrm>
            <a:off x="822960" y="1783080"/>
            <a:ext cx="868680" cy="868680"/>
          </a:xfrm>
          <a:prstGeom prst="rect">
            <a:avLst/>
          </a:prstGeom>
          <a:noFill/>
          <a:ln/>
        </p:spPr>
        <p:txBody>
          <a:bodyPr wrap="square" lIns="0" tIns="0" rIns="0" bIns="0" rtlCol="0" anchor="ctr"/>
          <a:lstStyle/>
          <a:p>
            <a:pPr algn="ctr" indent="0" marL="0">
              <a:buNone/>
            </a:pPr>
            <a:r>
              <a:rPr lang="en-US" sz="3400" b="1" dirty="0">
                <a:solidFill>
                  <a:srgbClr val="3987E5"/>
                </a:solidFill>
                <a:latin typeface="Arial" pitchFamily="34" charset="0"/>
                <a:ea typeface="Arial" pitchFamily="34" charset="-122"/>
                <a:cs typeface="Arial" pitchFamily="34" charset="-120"/>
              </a:rPr>
              <a:t>1</a:t>
            </a:r>
            <a:endParaRPr lang="en-US" sz="3400" dirty="0"/>
          </a:p>
        </p:txBody>
      </p:sp>
      <p:sp>
        <p:nvSpPr>
          <p:cNvPr id="5" name="Text 3"/>
          <p:cNvSpPr/>
          <p:nvPr/>
        </p:nvSpPr>
        <p:spPr>
          <a:xfrm>
            <a:off x="1965960" y="1856232"/>
            <a:ext cx="9418320" cy="457200"/>
          </a:xfrm>
          <a:prstGeom prst="rect">
            <a:avLst/>
          </a:prstGeom>
          <a:noFill/>
          <a:ln/>
        </p:spPr>
        <p:txBody>
          <a:bodyPr wrap="square" lIns="0" tIns="0" rIns="0" bIns="0" rtlCol="0" anchor="ctr"/>
          <a:lstStyle/>
          <a:p>
            <a:pPr indent="0" marL="0">
              <a:buNone/>
            </a:pPr>
            <a:r>
              <a:rPr lang="en-US" sz="1900" dirty="0">
                <a:solidFill>
                  <a:srgbClr val="C7C6BB"/>
                </a:solidFill>
                <a:latin typeface="Arial" pitchFamily="34" charset="0"/>
                <a:ea typeface="Arial" pitchFamily="34" charset="-122"/>
                <a:cs typeface="Arial" pitchFamily="34" charset="-120"/>
              </a:rPr>
              <a:t>When a goal makes the market overreact,</a:t>
            </a:r>
            <a:endParaRPr lang="en-US" sz="1900" dirty="0"/>
          </a:p>
        </p:txBody>
      </p:sp>
      <p:sp>
        <p:nvSpPr>
          <p:cNvPr id="6" name="Text 4"/>
          <p:cNvSpPr/>
          <p:nvPr/>
        </p:nvSpPr>
        <p:spPr>
          <a:xfrm>
            <a:off x="1965960" y="2240280"/>
            <a:ext cx="9418320" cy="45720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FadeCast takes the other side</a:t>
            </a:r>
            <a:endParaRPr lang="en-US" sz="2300" dirty="0"/>
          </a:p>
        </p:txBody>
      </p:sp>
      <p:sp>
        <p:nvSpPr>
          <p:cNvPr id="7" name="Shape 5"/>
          <p:cNvSpPr/>
          <p:nvPr/>
        </p:nvSpPr>
        <p:spPr>
          <a:xfrm>
            <a:off x="822960" y="3200400"/>
            <a:ext cx="868680" cy="868680"/>
          </a:xfrm>
          <a:prstGeom prst="roundRect">
            <a:avLst>
              <a:gd name="adj" fmla="val 52632"/>
            </a:avLst>
          </a:prstGeom>
          <a:solidFill>
            <a:srgbClr val="1A1A19"/>
          </a:solidFill>
          <a:ln w="25400">
            <a:solidFill>
              <a:srgbClr val="FAB219"/>
            </a:solidFill>
            <a:prstDash val="solid"/>
          </a:ln>
        </p:spPr>
      </p:sp>
      <p:sp>
        <p:nvSpPr>
          <p:cNvPr id="8" name="Text 6"/>
          <p:cNvSpPr/>
          <p:nvPr/>
        </p:nvSpPr>
        <p:spPr>
          <a:xfrm>
            <a:off x="822960" y="3200400"/>
            <a:ext cx="868680" cy="868680"/>
          </a:xfrm>
          <a:prstGeom prst="rect">
            <a:avLst/>
          </a:prstGeom>
          <a:noFill/>
          <a:ln/>
        </p:spPr>
        <p:txBody>
          <a:bodyPr wrap="square" lIns="0" tIns="0" rIns="0" bIns="0" rtlCol="0" anchor="ctr"/>
          <a:lstStyle/>
          <a:p>
            <a:pPr algn="ctr" indent="0" marL="0">
              <a:buNone/>
            </a:pPr>
            <a:r>
              <a:rPr lang="en-US" sz="3400" b="1" dirty="0">
                <a:solidFill>
                  <a:srgbClr val="FAB219"/>
                </a:solidFill>
                <a:latin typeface="Arial" pitchFamily="34" charset="0"/>
                <a:ea typeface="Arial" pitchFamily="34" charset="-122"/>
                <a:cs typeface="Arial" pitchFamily="34" charset="-120"/>
              </a:rPr>
              <a:t>2</a:t>
            </a:r>
            <a:endParaRPr lang="en-US" sz="3400" dirty="0"/>
          </a:p>
        </p:txBody>
      </p:sp>
      <p:sp>
        <p:nvSpPr>
          <p:cNvPr id="9" name="Text 7"/>
          <p:cNvSpPr/>
          <p:nvPr/>
        </p:nvSpPr>
        <p:spPr>
          <a:xfrm>
            <a:off x="1965960" y="3273552"/>
            <a:ext cx="9418320" cy="457200"/>
          </a:xfrm>
          <a:prstGeom prst="rect">
            <a:avLst/>
          </a:prstGeom>
          <a:noFill/>
          <a:ln/>
        </p:spPr>
        <p:txBody>
          <a:bodyPr wrap="square" lIns="0" tIns="0" rIns="0" bIns="0" rtlCol="0" anchor="ctr"/>
          <a:lstStyle/>
          <a:p>
            <a:pPr indent="0" marL="0">
              <a:buNone/>
            </a:pPr>
            <a:r>
              <a:rPr lang="en-US" sz="1900" dirty="0">
                <a:solidFill>
                  <a:srgbClr val="C7C6BB"/>
                </a:solidFill>
                <a:latin typeface="Arial" pitchFamily="34" charset="0"/>
                <a:ea typeface="Arial" pitchFamily="34" charset="-122"/>
                <a:cs typeface="Arial" pitchFamily="34" charset="-120"/>
              </a:rPr>
              <a:t>it commits the call to Solana</a:t>
            </a:r>
            <a:endParaRPr lang="en-US" sz="1900" dirty="0"/>
          </a:p>
        </p:txBody>
      </p:sp>
      <p:sp>
        <p:nvSpPr>
          <p:cNvPr id="10" name="Text 8"/>
          <p:cNvSpPr/>
          <p:nvPr/>
        </p:nvSpPr>
        <p:spPr>
          <a:xfrm>
            <a:off x="1965960" y="3657600"/>
            <a:ext cx="9418320" cy="45720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before the market resolves</a:t>
            </a:r>
            <a:endParaRPr lang="en-US" sz="2300" dirty="0"/>
          </a:p>
        </p:txBody>
      </p:sp>
      <p:sp>
        <p:nvSpPr>
          <p:cNvPr id="11" name="Shape 9"/>
          <p:cNvSpPr/>
          <p:nvPr/>
        </p:nvSpPr>
        <p:spPr>
          <a:xfrm>
            <a:off x="822960" y="4617720"/>
            <a:ext cx="868680" cy="868680"/>
          </a:xfrm>
          <a:prstGeom prst="roundRect">
            <a:avLst>
              <a:gd name="adj" fmla="val 52632"/>
            </a:avLst>
          </a:prstGeom>
          <a:solidFill>
            <a:srgbClr val="1A1A19"/>
          </a:solidFill>
          <a:ln w="25400">
            <a:solidFill>
              <a:srgbClr val="21B521"/>
            </a:solidFill>
            <a:prstDash val="solid"/>
          </a:ln>
        </p:spPr>
      </p:sp>
      <p:sp>
        <p:nvSpPr>
          <p:cNvPr id="12" name="Text 10"/>
          <p:cNvSpPr/>
          <p:nvPr/>
        </p:nvSpPr>
        <p:spPr>
          <a:xfrm>
            <a:off x="822960" y="4617720"/>
            <a:ext cx="868680" cy="868680"/>
          </a:xfrm>
          <a:prstGeom prst="rect">
            <a:avLst/>
          </a:prstGeom>
          <a:noFill/>
          <a:ln/>
        </p:spPr>
        <p:txBody>
          <a:bodyPr wrap="square" lIns="0" tIns="0" rIns="0" bIns="0" rtlCol="0" anchor="ctr"/>
          <a:lstStyle/>
          <a:p>
            <a:pPr algn="ctr" indent="0" marL="0">
              <a:buNone/>
            </a:pPr>
            <a:r>
              <a:rPr lang="en-US" sz="3400" b="1" dirty="0">
                <a:solidFill>
                  <a:srgbClr val="21B521"/>
                </a:solidFill>
                <a:latin typeface="Arial" pitchFamily="34" charset="0"/>
                <a:ea typeface="Arial" pitchFamily="34" charset="-122"/>
                <a:cs typeface="Arial" pitchFamily="34" charset="-120"/>
              </a:rPr>
              <a:t>3</a:t>
            </a:r>
            <a:endParaRPr lang="en-US" sz="3400" dirty="0"/>
          </a:p>
        </p:txBody>
      </p:sp>
      <p:sp>
        <p:nvSpPr>
          <p:cNvPr id="13" name="Text 11"/>
          <p:cNvSpPr/>
          <p:nvPr/>
        </p:nvSpPr>
        <p:spPr>
          <a:xfrm>
            <a:off x="1965960" y="4690872"/>
            <a:ext cx="9418320" cy="457200"/>
          </a:xfrm>
          <a:prstGeom prst="rect">
            <a:avLst/>
          </a:prstGeom>
          <a:noFill/>
          <a:ln/>
        </p:spPr>
        <p:txBody>
          <a:bodyPr wrap="square" lIns="0" tIns="0" rIns="0" bIns="0" rtlCol="0" anchor="ctr"/>
          <a:lstStyle/>
          <a:p>
            <a:pPr indent="0" marL="0">
              <a:buNone/>
            </a:pPr>
            <a:r>
              <a:rPr lang="en-US" sz="1900" dirty="0">
                <a:solidFill>
                  <a:srgbClr val="C7C6BB"/>
                </a:solidFill>
                <a:latin typeface="Arial" pitchFamily="34" charset="0"/>
                <a:ea typeface="Arial" pitchFamily="34" charset="-122"/>
                <a:cs typeface="Arial" pitchFamily="34" charset="-120"/>
              </a:rPr>
              <a:t>so its win rate — losses included — is</a:t>
            </a:r>
            <a:endParaRPr lang="en-US" sz="1900" dirty="0"/>
          </a:p>
        </p:txBody>
      </p:sp>
      <p:sp>
        <p:nvSpPr>
          <p:cNvPr id="14" name="Text 12"/>
          <p:cNvSpPr/>
          <p:nvPr/>
        </p:nvSpPr>
        <p:spPr>
          <a:xfrm>
            <a:off x="1965960" y="5074920"/>
            <a:ext cx="9418320" cy="45720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cryptographically auditable</a:t>
            </a:r>
            <a:endParaRPr lang="en-US" sz="2300" dirty="0"/>
          </a:p>
        </p:txBody>
      </p:sp>
      <p:sp>
        <p:nvSpPr>
          <p:cNvPr id="15" name="Text 13"/>
          <p:cNvSpPr/>
          <p:nvPr/>
        </p:nvSpPr>
        <p:spPr>
          <a:xfrm>
            <a:off x="822960" y="6126480"/>
            <a:ext cx="10515600" cy="365760"/>
          </a:xfrm>
          <a:prstGeom prst="rect">
            <a:avLst/>
          </a:prstGeom>
          <a:noFill/>
          <a:ln/>
        </p:spPr>
        <p:txBody>
          <a:bodyPr wrap="square" lIns="0" tIns="0" rIns="0" bIns="0" rtlCol="0" anchor="ctr"/>
          <a:lstStyle/>
          <a:p>
            <a:pPr indent="0" marL="0">
              <a:buNone/>
            </a:pPr>
            <a:r>
              <a:rPr lang="en-US" sz="1500" i="1" dirty="0">
                <a:solidFill>
                  <a:srgbClr val="8C8C84"/>
                </a:solidFill>
                <a:latin typeface="Arial" pitchFamily="34" charset="0"/>
                <a:ea typeface="Arial" pitchFamily="34" charset="-122"/>
                <a:cs typeface="Arial" pitchFamily="34" charset="-120"/>
              </a:rPr>
              <a:t>The result: an AI pundit that literally cannot cherry-pick its record.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40080" y="438912"/>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pipeline</a:t>
            </a:r>
            <a:endParaRPr lang="en-US" sz="3200" dirty="0"/>
          </a:p>
        </p:txBody>
      </p:sp>
      <p:sp>
        <p:nvSpPr>
          <p:cNvPr id="3" name="Text 1"/>
          <p:cNvSpPr/>
          <p:nvPr/>
        </p:nvSpPr>
        <p:spPr>
          <a:xfrm>
            <a:off x="658368" y="1097280"/>
            <a:ext cx="10972800" cy="384048"/>
          </a:xfrm>
          <a:prstGeom prst="rect">
            <a:avLst/>
          </a:prstGeom>
          <a:noFill/>
          <a:ln/>
        </p:spPr>
        <p:txBody>
          <a:bodyPr wrap="square" lIns="0" tIns="0" rIns="0" bIns="0" rtlCol="0" anchor="ctr"/>
          <a:lstStyle/>
          <a:p>
            <a:pPr indent="0" marL="0">
              <a:buNone/>
            </a:pPr>
            <a:r>
              <a:rPr lang="en-US" sz="1500" dirty="0">
                <a:solidFill>
                  <a:srgbClr val="8C8C84"/>
                </a:solidFill>
                <a:latin typeface="Arial" pitchFamily="34" charset="0"/>
                <a:ea typeface="Arial" pitchFamily="34" charset="-122"/>
                <a:cs typeface="Arial" pitchFamily="34" charset="-120"/>
              </a:rPr>
              <a:t>Live data in. Auditable decisions out.</a:t>
            </a:r>
            <a:endParaRPr lang="en-US" sz="1500" dirty="0"/>
          </a:p>
        </p:txBody>
      </p:sp>
      <p:sp>
        <p:nvSpPr>
          <p:cNvPr id="4" name="Shape 2"/>
          <p:cNvSpPr/>
          <p:nvPr/>
        </p:nvSpPr>
        <p:spPr>
          <a:xfrm>
            <a:off x="603504" y="2148840"/>
            <a:ext cx="2487168" cy="2743200"/>
          </a:xfrm>
          <a:prstGeom prst="roundRect">
            <a:avLst>
              <a:gd name="adj" fmla="val 3676"/>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5" name="Shape 3"/>
          <p:cNvSpPr/>
          <p:nvPr/>
        </p:nvSpPr>
        <p:spPr>
          <a:xfrm>
            <a:off x="1463040" y="2468880"/>
            <a:ext cx="768096" cy="768096"/>
          </a:xfrm>
          <a:prstGeom prst="roundRect">
            <a:avLst>
              <a:gd name="adj" fmla="val 50000"/>
            </a:avLst>
          </a:prstGeom>
          <a:solidFill>
            <a:srgbClr val="212120"/>
          </a:solidFill>
          <a:ln w="25400">
            <a:solidFill>
              <a:srgbClr val="3987E5"/>
            </a:solidFill>
            <a:prstDash val="solid"/>
          </a:ln>
        </p:spPr>
      </p:sp>
      <p:sp>
        <p:nvSpPr>
          <p:cNvPr id="6" name="Text 4"/>
          <p:cNvSpPr/>
          <p:nvPr/>
        </p:nvSpPr>
        <p:spPr>
          <a:xfrm>
            <a:off x="1463040" y="2468880"/>
            <a:ext cx="768096" cy="768096"/>
          </a:xfrm>
          <a:prstGeom prst="rect">
            <a:avLst/>
          </a:prstGeom>
          <a:noFill/>
          <a:ln/>
        </p:spPr>
        <p:txBody>
          <a:bodyPr wrap="square" lIns="0" tIns="0" rIns="0" bIns="0" rtlCol="0" anchor="ctr"/>
          <a:lstStyle/>
          <a:p>
            <a:pPr algn="ctr" indent="0" marL="0">
              <a:buNone/>
            </a:pPr>
            <a:r>
              <a:rPr lang="en-US" sz="3000" b="1" dirty="0">
                <a:solidFill>
                  <a:srgbClr val="3987E5"/>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740664" y="3447288"/>
            <a:ext cx="221284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TxLINE</a:t>
            </a:r>
            <a:endParaRPr lang="en-US" sz="1900" dirty="0"/>
          </a:p>
        </p:txBody>
      </p:sp>
      <p:sp>
        <p:nvSpPr>
          <p:cNvPr id="8" name="Text 6"/>
          <p:cNvSpPr/>
          <p:nvPr/>
        </p:nvSpPr>
        <p:spPr>
          <a:xfrm>
            <a:off x="804672" y="3931920"/>
            <a:ext cx="2084832" cy="822960"/>
          </a:xfrm>
          <a:prstGeom prst="rect">
            <a:avLst/>
          </a:prstGeom>
          <a:noFill/>
          <a:ln/>
        </p:spPr>
        <p:txBody>
          <a:bodyPr wrap="square" lIns="0" tIns="0" rIns="0" bIns="0" rtlCol="0" anchor="ctr"/>
          <a:lstStyle/>
          <a:p>
            <a:pPr algn="ctr" indent="0" marL="0">
              <a:buNone/>
            </a:pPr>
            <a:r>
              <a:rPr lang="en-US" sz="1300" dirty="0">
                <a:solidFill>
                  <a:srgbClr val="C7C6BB"/>
                </a:solidFill>
                <a:latin typeface="Arial" pitchFamily="34" charset="0"/>
                <a:ea typeface="Arial" pitchFamily="34" charset="-122"/>
                <a:cs typeface="Arial" pitchFamily="34" charset="-120"/>
              </a:rPr>
              <a:t>Live odds + scores stream in over SSE</a:t>
            </a:r>
            <a:endParaRPr lang="en-US" sz="1300" dirty="0"/>
          </a:p>
        </p:txBody>
      </p:sp>
      <p:sp>
        <p:nvSpPr>
          <p:cNvPr id="9" name="Text 7"/>
          <p:cNvSpPr/>
          <p:nvPr/>
        </p:nvSpPr>
        <p:spPr>
          <a:xfrm>
            <a:off x="2941320" y="3200400"/>
            <a:ext cx="640080" cy="640080"/>
          </a:xfrm>
          <a:prstGeom prst="rect">
            <a:avLst/>
          </a:prstGeom>
          <a:noFill/>
          <a:ln/>
        </p:spPr>
        <p:txBody>
          <a:bodyPr wrap="square" lIns="0" tIns="0" rIns="0" bIns="0" rtlCol="0" anchor="ctr"/>
          <a:lstStyle/>
          <a:p>
            <a:pPr algn="ctr" indent="0" marL="0">
              <a:buNone/>
            </a:pPr>
            <a:r>
              <a:rPr lang="en-US" sz="2800" b="1" dirty="0">
                <a:solidFill>
                  <a:srgbClr val="8C8C84"/>
                </a:solidFill>
                <a:latin typeface="Arial" pitchFamily="34" charset="0"/>
                <a:ea typeface="Arial" pitchFamily="34" charset="-122"/>
                <a:cs typeface="Arial" pitchFamily="34" charset="-120"/>
              </a:rPr>
              <a:t>→</a:t>
            </a:r>
            <a:endParaRPr lang="en-US" sz="2800" dirty="0"/>
          </a:p>
        </p:txBody>
      </p:sp>
      <p:sp>
        <p:nvSpPr>
          <p:cNvPr id="10" name="Shape 8"/>
          <p:cNvSpPr/>
          <p:nvPr/>
        </p:nvSpPr>
        <p:spPr>
          <a:xfrm>
            <a:off x="3432048" y="2148840"/>
            <a:ext cx="2487168" cy="2743200"/>
          </a:xfrm>
          <a:prstGeom prst="roundRect">
            <a:avLst>
              <a:gd name="adj" fmla="val 3676"/>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11" name="Shape 9"/>
          <p:cNvSpPr/>
          <p:nvPr/>
        </p:nvSpPr>
        <p:spPr>
          <a:xfrm>
            <a:off x="4291584" y="2468880"/>
            <a:ext cx="768096" cy="768096"/>
          </a:xfrm>
          <a:prstGeom prst="roundRect">
            <a:avLst>
              <a:gd name="adj" fmla="val 50000"/>
            </a:avLst>
          </a:prstGeom>
          <a:solidFill>
            <a:srgbClr val="212120"/>
          </a:solidFill>
          <a:ln w="25400">
            <a:solidFill>
              <a:srgbClr val="E24B41"/>
            </a:solidFill>
            <a:prstDash val="solid"/>
          </a:ln>
        </p:spPr>
      </p:sp>
      <p:sp>
        <p:nvSpPr>
          <p:cNvPr id="12" name="Text 10"/>
          <p:cNvSpPr/>
          <p:nvPr/>
        </p:nvSpPr>
        <p:spPr>
          <a:xfrm>
            <a:off x="4291584" y="2468880"/>
            <a:ext cx="768096" cy="768096"/>
          </a:xfrm>
          <a:prstGeom prst="rect">
            <a:avLst/>
          </a:prstGeom>
          <a:noFill/>
          <a:ln/>
        </p:spPr>
        <p:txBody>
          <a:bodyPr wrap="square" lIns="0" tIns="0" rIns="0" bIns="0" rtlCol="0" anchor="ctr"/>
          <a:lstStyle/>
          <a:p>
            <a:pPr algn="ctr" indent="0" marL="0">
              <a:buNone/>
            </a:pPr>
            <a:r>
              <a:rPr lang="en-US" sz="3000" b="1" dirty="0">
                <a:solidFill>
                  <a:srgbClr val="E24B41"/>
                </a:solidFill>
                <a:latin typeface="Arial" pitchFamily="34" charset="0"/>
                <a:ea typeface="Arial" pitchFamily="34" charset="-122"/>
                <a:cs typeface="Arial" pitchFamily="34" charset="-120"/>
              </a:rPr>
              <a:t>2</a:t>
            </a:r>
            <a:endParaRPr lang="en-US" sz="3000" dirty="0"/>
          </a:p>
        </p:txBody>
      </p:sp>
      <p:sp>
        <p:nvSpPr>
          <p:cNvPr id="13" name="Text 11"/>
          <p:cNvSpPr/>
          <p:nvPr/>
        </p:nvSpPr>
        <p:spPr>
          <a:xfrm>
            <a:off x="3569208" y="3447288"/>
            <a:ext cx="221284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Detect</a:t>
            </a:r>
            <a:endParaRPr lang="en-US" sz="1900" dirty="0"/>
          </a:p>
        </p:txBody>
      </p:sp>
      <p:sp>
        <p:nvSpPr>
          <p:cNvPr id="14" name="Text 12"/>
          <p:cNvSpPr/>
          <p:nvPr/>
        </p:nvSpPr>
        <p:spPr>
          <a:xfrm>
            <a:off x="3633216" y="3931920"/>
            <a:ext cx="2084832" cy="822960"/>
          </a:xfrm>
          <a:prstGeom prst="rect">
            <a:avLst/>
          </a:prstGeom>
          <a:noFill/>
          <a:ln/>
        </p:spPr>
        <p:txBody>
          <a:bodyPr wrap="square" lIns="0" tIns="0" rIns="0" bIns="0" rtlCol="0" anchor="ctr"/>
          <a:lstStyle/>
          <a:p>
            <a:pPr algn="ctr" indent="0" marL="0">
              <a:buNone/>
            </a:pPr>
            <a:r>
              <a:rPr lang="en-US" sz="1300" dirty="0">
                <a:solidFill>
                  <a:srgbClr val="C7C6BB"/>
                </a:solidFill>
                <a:latin typeface="Arial" pitchFamily="34" charset="0"/>
                <a:ea typeface="Arial" pitchFamily="34" charset="-122"/>
                <a:cs typeface="Arial" pitchFamily="34" charset="-120"/>
              </a:rPr>
              <a:t>Overshoot engine flags the panic</a:t>
            </a:r>
            <a:endParaRPr lang="en-US" sz="1300" dirty="0"/>
          </a:p>
        </p:txBody>
      </p:sp>
      <p:sp>
        <p:nvSpPr>
          <p:cNvPr id="15" name="Text 13"/>
          <p:cNvSpPr/>
          <p:nvPr/>
        </p:nvSpPr>
        <p:spPr>
          <a:xfrm>
            <a:off x="5769864" y="3200400"/>
            <a:ext cx="640080" cy="640080"/>
          </a:xfrm>
          <a:prstGeom prst="rect">
            <a:avLst/>
          </a:prstGeom>
          <a:noFill/>
          <a:ln/>
        </p:spPr>
        <p:txBody>
          <a:bodyPr wrap="square" lIns="0" tIns="0" rIns="0" bIns="0" rtlCol="0" anchor="ctr"/>
          <a:lstStyle/>
          <a:p>
            <a:pPr algn="ctr" indent="0" marL="0">
              <a:buNone/>
            </a:pPr>
            <a:r>
              <a:rPr lang="en-US" sz="2800" b="1" dirty="0">
                <a:solidFill>
                  <a:srgbClr val="8C8C84"/>
                </a:solidFill>
                <a:latin typeface="Arial" pitchFamily="34" charset="0"/>
                <a:ea typeface="Arial" pitchFamily="34" charset="-122"/>
                <a:cs typeface="Arial" pitchFamily="34" charset="-120"/>
              </a:rPr>
              <a:t>→</a:t>
            </a:r>
            <a:endParaRPr lang="en-US" sz="2800" dirty="0"/>
          </a:p>
        </p:txBody>
      </p:sp>
      <p:sp>
        <p:nvSpPr>
          <p:cNvPr id="16" name="Shape 14"/>
          <p:cNvSpPr/>
          <p:nvPr/>
        </p:nvSpPr>
        <p:spPr>
          <a:xfrm>
            <a:off x="6260592" y="2148840"/>
            <a:ext cx="2487168" cy="2743200"/>
          </a:xfrm>
          <a:prstGeom prst="roundRect">
            <a:avLst>
              <a:gd name="adj" fmla="val 3676"/>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17" name="Shape 15"/>
          <p:cNvSpPr/>
          <p:nvPr/>
        </p:nvSpPr>
        <p:spPr>
          <a:xfrm>
            <a:off x="7120128" y="2468880"/>
            <a:ext cx="768096" cy="768096"/>
          </a:xfrm>
          <a:prstGeom prst="roundRect">
            <a:avLst>
              <a:gd name="adj" fmla="val 50000"/>
            </a:avLst>
          </a:prstGeom>
          <a:solidFill>
            <a:srgbClr val="212120"/>
          </a:solidFill>
          <a:ln w="25400">
            <a:solidFill>
              <a:srgbClr val="FAB219"/>
            </a:solidFill>
            <a:prstDash val="solid"/>
          </a:ln>
        </p:spPr>
      </p:sp>
      <p:sp>
        <p:nvSpPr>
          <p:cNvPr id="18" name="Text 16"/>
          <p:cNvSpPr/>
          <p:nvPr/>
        </p:nvSpPr>
        <p:spPr>
          <a:xfrm>
            <a:off x="7120128" y="2468880"/>
            <a:ext cx="768096" cy="768096"/>
          </a:xfrm>
          <a:prstGeom prst="rect">
            <a:avLst/>
          </a:prstGeom>
          <a:noFill/>
          <a:ln/>
        </p:spPr>
        <p:txBody>
          <a:bodyPr wrap="square" lIns="0" tIns="0" rIns="0" bIns="0" rtlCol="0" anchor="ctr"/>
          <a:lstStyle/>
          <a:p>
            <a:pPr algn="ctr" indent="0" marL="0">
              <a:buNone/>
            </a:pPr>
            <a:r>
              <a:rPr lang="en-US" sz="3000" b="1" dirty="0">
                <a:solidFill>
                  <a:srgbClr val="FAB219"/>
                </a:solidFill>
                <a:latin typeface="Arial" pitchFamily="34" charset="0"/>
                <a:ea typeface="Arial" pitchFamily="34" charset="-122"/>
                <a:cs typeface="Arial" pitchFamily="34" charset="-120"/>
              </a:rPr>
              <a:t>3</a:t>
            </a:r>
            <a:endParaRPr lang="en-US" sz="3000" dirty="0"/>
          </a:p>
        </p:txBody>
      </p:sp>
      <p:sp>
        <p:nvSpPr>
          <p:cNvPr id="19" name="Text 17"/>
          <p:cNvSpPr/>
          <p:nvPr/>
        </p:nvSpPr>
        <p:spPr>
          <a:xfrm>
            <a:off x="6397752" y="3447288"/>
            <a:ext cx="221284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Commit</a:t>
            </a:r>
            <a:endParaRPr lang="en-US" sz="1900" dirty="0"/>
          </a:p>
        </p:txBody>
      </p:sp>
      <p:sp>
        <p:nvSpPr>
          <p:cNvPr id="20" name="Text 18"/>
          <p:cNvSpPr/>
          <p:nvPr/>
        </p:nvSpPr>
        <p:spPr>
          <a:xfrm>
            <a:off x="6461760" y="3931920"/>
            <a:ext cx="2084832" cy="822960"/>
          </a:xfrm>
          <a:prstGeom prst="rect">
            <a:avLst/>
          </a:prstGeom>
          <a:noFill/>
          <a:ln/>
        </p:spPr>
        <p:txBody>
          <a:bodyPr wrap="square" lIns="0" tIns="0" rIns="0" bIns="0" rtlCol="0" anchor="ctr"/>
          <a:lstStyle/>
          <a:p>
            <a:pPr algn="ctr" indent="0" marL="0">
              <a:buNone/>
            </a:pPr>
            <a:r>
              <a:rPr lang="en-US" sz="1300" dirty="0">
                <a:solidFill>
                  <a:srgbClr val="C7C6BB"/>
                </a:solidFill>
                <a:latin typeface="Arial" pitchFamily="34" charset="0"/>
                <a:ea typeface="Arial" pitchFamily="34" charset="-122"/>
                <a:cs typeface="Arial" pitchFamily="34" charset="-120"/>
              </a:rPr>
              <a:t>Signal hashed to Solana, pre-resolution</a:t>
            </a:r>
            <a:endParaRPr lang="en-US" sz="1300" dirty="0"/>
          </a:p>
        </p:txBody>
      </p:sp>
      <p:sp>
        <p:nvSpPr>
          <p:cNvPr id="21" name="Text 19"/>
          <p:cNvSpPr/>
          <p:nvPr/>
        </p:nvSpPr>
        <p:spPr>
          <a:xfrm>
            <a:off x="8598408" y="3200400"/>
            <a:ext cx="640080" cy="640080"/>
          </a:xfrm>
          <a:prstGeom prst="rect">
            <a:avLst/>
          </a:prstGeom>
          <a:noFill/>
          <a:ln/>
        </p:spPr>
        <p:txBody>
          <a:bodyPr wrap="square" lIns="0" tIns="0" rIns="0" bIns="0" rtlCol="0" anchor="ctr"/>
          <a:lstStyle/>
          <a:p>
            <a:pPr algn="ctr" indent="0" marL="0">
              <a:buNone/>
            </a:pPr>
            <a:r>
              <a:rPr lang="en-US" sz="2800" b="1" dirty="0">
                <a:solidFill>
                  <a:srgbClr val="8C8C84"/>
                </a:solidFill>
                <a:latin typeface="Arial" pitchFamily="34" charset="0"/>
                <a:ea typeface="Arial" pitchFamily="34" charset="-122"/>
                <a:cs typeface="Arial" pitchFamily="34" charset="-120"/>
              </a:rPr>
              <a:t>→</a:t>
            </a:r>
            <a:endParaRPr lang="en-US" sz="2800" dirty="0"/>
          </a:p>
        </p:txBody>
      </p:sp>
      <p:sp>
        <p:nvSpPr>
          <p:cNvPr id="22" name="Shape 20"/>
          <p:cNvSpPr/>
          <p:nvPr/>
        </p:nvSpPr>
        <p:spPr>
          <a:xfrm>
            <a:off x="9089136" y="2148840"/>
            <a:ext cx="2487168" cy="2743200"/>
          </a:xfrm>
          <a:prstGeom prst="roundRect">
            <a:avLst>
              <a:gd name="adj" fmla="val 3676"/>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23" name="Shape 21"/>
          <p:cNvSpPr/>
          <p:nvPr/>
        </p:nvSpPr>
        <p:spPr>
          <a:xfrm>
            <a:off x="9948672" y="2468880"/>
            <a:ext cx="768096" cy="768096"/>
          </a:xfrm>
          <a:prstGeom prst="roundRect">
            <a:avLst>
              <a:gd name="adj" fmla="val 50000"/>
            </a:avLst>
          </a:prstGeom>
          <a:solidFill>
            <a:srgbClr val="212120"/>
          </a:solidFill>
          <a:ln w="25400">
            <a:solidFill>
              <a:srgbClr val="21B521"/>
            </a:solidFill>
            <a:prstDash val="solid"/>
          </a:ln>
        </p:spPr>
      </p:sp>
      <p:sp>
        <p:nvSpPr>
          <p:cNvPr id="24" name="Text 22"/>
          <p:cNvSpPr/>
          <p:nvPr/>
        </p:nvSpPr>
        <p:spPr>
          <a:xfrm>
            <a:off x="9948672" y="2468880"/>
            <a:ext cx="768096" cy="768096"/>
          </a:xfrm>
          <a:prstGeom prst="rect">
            <a:avLst/>
          </a:prstGeom>
          <a:noFill/>
          <a:ln/>
        </p:spPr>
        <p:txBody>
          <a:bodyPr wrap="square" lIns="0" tIns="0" rIns="0" bIns="0" rtlCol="0" anchor="ctr"/>
          <a:lstStyle/>
          <a:p>
            <a:pPr algn="ctr" indent="0" marL="0">
              <a:buNone/>
            </a:pPr>
            <a:r>
              <a:rPr lang="en-US" sz="3000" b="1" dirty="0">
                <a:solidFill>
                  <a:srgbClr val="21B521"/>
                </a:solidFill>
                <a:latin typeface="Arial" pitchFamily="34" charset="0"/>
                <a:ea typeface="Arial" pitchFamily="34" charset="-122"/>
                <a:cs typeface="Arial" pitchFamily="34" charset="-120"/>
              </a:rPr>
              <a:t>4</a:t>
            </a:r>
            <a:endParaRPr lang="en-US" sz="3000" dirty="0"/>
          </a:p>
        </p:txBody>
      </p:sp>
      <p:sp>
        <p:nvSpPr>
          <p:cNvPr id="25" name="Text 23"/>
          <p:cNvSpPr/>
          <p:nvPr/>
        </p:nvSpPr>
        <p:spPr>
          <a:xfrm>
            <a:off x="9226296" y="3447288"/>
            <a:ext cx="221284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Settle</a:t>
            </a:r>
            <a:endParaRPr lang="en-US" sz="1900" dirty="0"/>
          </a:p>
        </p:txBody>
      </p:sp>
      <p:sp>
        <p:nvSpPr>
          <p:cNvPr id="26" name="Text 24"/>
          <p:cNvSpPr/>
          <p:nvPr/>
        </p:nvSpPr>
        <p:spPr>
          <a:xfrm>
            <a:off x="9290304" y="3931920"/>
            <a:ext cx="2084832" cy="822960"/>
          </a:xfrm>
          <a:prstGeom prst="rect">
            <a:avLst/>
          </a:prstGeom>
          <a:noFill/>
          <a:ln/>
        </p:spPr>
        <p:txBody>
          <a:bodyPr wrap="square" lIns="0" tIns="0" rIns="0" bIns="0" rtlCol="0" anchor="ctr"/>
          <a:lstStyle/>
          <a:p>
            <a:pPr algn="ctr" indent="0" marL="0">
              <a:buNone/>
            </a:pPr>
            <a:r>
              <a:rPr lang="en-US" sz="1300" dirty="0">
                <a:solidFill>
                  <a:srgbClr val="C7C6BB"/>
                </a:solidFill>
                <a:latin typeface="Arial" pitchFamily="34" charset="0"/>
                <a:ea typeface="Arial" pitchFamily="34" charset="-122"/>
                <a:cs typeface="Arial" pitchFamily="34" charset="-120"/>
              </a:rPr>
              <a:t>Resolves &amp; scores its own P&amp;L</a:t>
            </a:r>
            <a:endParaRPr lang="en-US" sz="1300" dirty="0"/>
          </a:p>
        </p:txBody>
      </p:sp>
      <p:sp>
        <p:nvSpPr>
          <p:cNvPr id="27" name="Text 25"/>
          <p:cNvSpPr/>
          <p:nvPr/>
        </p:nvSpPr>
        <p:spPr>
          <a:xfrm>
            <a:off x="640080" y="5806440"/>
            <a:ext cx="10972800" cy="457200"/>
          </a:xfrm>
          <a:prstGeom prst="rect">
            <a:avLst/>
          </a:prstGeom>
          <a:noFill/>
          <a:ln/>
        </p:spPr>
        <p:txBody>
          <a:bodyPr wrap="square" lIns="0" tIns="0" rIns="0" bIns="0" rtlCol="0" anchor="ctr"/>
          <a:lstStyle/>
          <a:p>
            <a:pPr algn="ctr" indent="0" marL="0">
              <a:buNone/>
            </a:pPr>
            <a:r>
              <a:rPr lang="en-US" sz="1250" b="1" dirty="0">
                <a:solidFill>
                  <a:srgbClr val="C7C6BB"/>
                </a:solidFill>
                <a:latin typeface="Arial" pitchFamily="34" charset="0"/>
                <a:ea typeface="Arial" pitchFamily="34" charset="-122"/>
                <a:cs typeface="Arial" pitchFamily="34" charset="-120"/>
              </a:rPr>
              <a:t>TxLINE endpoints:  </a:t>
            </a:r>
            <a:pPr algn="ctr" indent="0" marL="0">
              <a:buNone/>
            </a:pPr>
            <a:r>
              <a:rPr lang="en-US" sz="1250" dirty="0">
                <a:solidFill>
                  <a:srgbClr val="8C8C84"/>
                </a:solidFill>
                <a:latin typeface="Arial" pitchFamily="34" charset="0"/>
                <a:ea typeface="Arial" pitchFamily="34" charset="-122"/>
                <a:cs typeface="Arial" pitchFamily="34" charset="-120"/>
              </a:rPr>
              <a:t>guest auth  ·  odds/stream (SSE)  ·  scores/stream  ·  fixtures &amp; odds snapshots  ·  on-chain subscribe + activate  ·  validation proofs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40080" y="438912"/>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It can't cherry-pick</a:t>
            </a:r>
            <a:endParaRPr lang="en-US" sz="3200" dirty="0"/>
          </a:p>
        </p:txBody>
      </p:sp>
      <p:sp>
        <p:nvSpPr>
          <p:cNvPr id="3" name="Text 1"/>
          <p:cNvSpPr/>
          <p:nvPr/>
        </p:nvSpPr>
        <p:spPr>
          <a:xfrm>
            <a:off x="640080" y="1783080"/>
            <a:ext cx="5943600" cy="9144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Every signal is a memo transaction on Solana — timestamped before the market moves.</a:t>
            </a:r>
            <a:endParaRPr lang="en-US" sz="2000" dirty="0"/>
          </a:p>
        </p:txBody>
      </p:sp>
      <p:sp>
        <p:nvSpPr>
          <p:cNvPr id="4" name="Shape 2"/>
          <p:cNvSpPr/>
          <p:nvPr/>
        </p:nvSpPr>
        <p:spPr>
          <a:xfrm>
            <a:off x="685800" y="3026664"/>
            <a:ext cx="146304" cy="146304"/>
          </a:xfrm>
          <a:prstGeom prst="roundRect">
            <a:avLst>
              <a:gd name="adj" fmla="val 50000"/>
            </a:avLst>
          </a:prstGeom>
          <a:solidFill>
            <a:srgbClr val="21B521"/>
          </a:solidFill>
          <a:ln/>
        </p:spPr>
      </p:sp>
      <p:sp>
        <p:nvSpPr>
          <p:cNvPr id="5" name="Text 3"/>
          <p:cNvSpPr/>
          <p:nvPr/>
        </p:nvSpPr>
        <p:spPr>
          <a:xfrm>
            <a:off x="960120" y="2898648"/>
            <a:ext cx="5577840" cy="502920"/>
          </a:xfrm>
          <a:prstGeom prst="rect">
            <a:avLst/>
          </a:prstGeom>
          <a:noFill/>
          <a:ln/>
        </p:spPr>
        <p:txBody>
          <a:bodyPr wrap="square" lIns="0" tIns="0" rIns="0" bIns="0" rtlCol="0" anchor="ctr"/>
          <a:lstStyle/>
          <a:p>
            <a:pPr indent="0" marL="0">
              <a:buNone/>
            </a:pPr>
            <a:r>
              <a:rPr lang="en-US" sz="1500" dirty="0">
                <a:solidFill>
                  <a:srgbClr val="C7C6BB"/>
                </a:solidFill>
                <a:latin typeface="Arial" pitchFamily="34" charset="0"/>
                <a:ea typeface="Arial" pitchFamily="34" charset="-122"/>
                <a:cs typeface="Arial" pitchFamily="34" charset="-120"/>
              </a:rPr>
              <a:t>Wins and losses are on-chain forever.</a:t>
            </a:r>
            <a:endParaRPr lang="en-US" sz="1500" dirty="0"/>
          </a:p>
        </p:txBody>
      </p:sp>
      <p:sp>
        <p:nvSpPr>
          <p:cNvPr id="6" name="Shape 4"/>
          <p:cNvSpPr/>
          <p:nvPr/>
        </p:nvSpPr>
        <p:spPr>
          <a:xfrm>
            <a:off x="685800" y="3685032"/>
            <a:ext cx="146304" cy="146304"/>
          </a:xfrm>
          <a:prstGeom prst="roundRect">
            <a:avLst>
              <a:gd name="adj" fmla="val 50000"/>
            </a:avLst>
          </a:prstGeom>
          <a:solidFill>
            <a:srgbClr val="3987E5"/>
          </a:solidFill>
          <a:ln/>
        </p:spPr>
      </p:sp>
      <p:sp>
        <p:nvSpPr>
          <p:cNvPr id="7" name="Text 5"/>
          <p:cNvSpPr/>
          <p:nvPr/>
        </p:nvSpPr>
        <p:spPr>
          <a:xfrm>
            <a:off x="960120" y="3557016"/>
            <a:ext cx="5577840" cy="502920"/>
          </a:xfrm>
          <a:prstGeom prst="rect">
            <a:avLst/>
          </a:prstGeom>
          <a:noFill/>
          <a:ln/>
        </p:spPr>
        <p:txBody>
          <a:bodyPr wrap="square" lIns="0" tIns="0" rIns="0" bIns="0" rtlCol="0" anchor="ctr"/>
          <a:lstStyle/>
          <a:p>
            <a:pPr indent="0" marL="0">
              <a:buNone/>
            </a:pPr>
            <a:r>
              <a:rPr lang="en-US" sz="1500" dirty="0">
                <a:solidFill>
                  <a:srgbClr val="C7C6BB"/>
                </a:solidFill>
                <a:latin typeface="Arial" pitchFamily="34" charset="0"/>
                <a:ea typeface="Arial" pitchFamily="34" charset="-122"/>
                <a:cs typeface="Arial" pitchFamily="34" charset="-120"/>
              </a:rPr>
              <a:t>Anyone can rebuild the exact record from the explorer.</a:t>
            </a:r>
            <a:endParaRPr lang="en-US" sz="1500" dirty="0"/>
          </a:p>
        </p:txBody>
      </p:sp>
      <p:sp>
        <p:nvSpPr>
          <p:cNvPr id="8" name="Shape 6"/>
          <p:cNvSpPr/>
          <p:nvPr/>
        </p:nvSpPr>
        <p:spPr>
          <a:xfrm>
            <a:off x="685800" y="4343400"/>
            <a:ext cx="146304" cy="146304"/>
          </a:xfrm>
          <a:prstGeom prst="roundRect">
            <a:avLst>
              <a:gd name="adj" fmla="val 50000"/>
            </a:avLst>
          </a:prstGeom>
          <a:solidFill>
            <a:srgbClr val="FAB219"/>
          </a:solidFill>
          <a:ln/>
        </p:spPr>
      </p:sp>
      <p:sp>
        <p:nvSpPr>
          <p:cNvPr id="9" name="Text 7"/>
          <p:cNvSpPr/>
          <p:nvPr/>
        </p:nvSpPr>
        <p:spPr>
          <a:xfrm>
            <a:off x="960120" y="4215384"/>
            <a:ext cx="5577840" cy="502920"/>
          </a:xfrm>
          <a:prstGeom prst="rect">
            <a:avLst/>
          </a:prstGeom>
          <a:noFill/>
          <a:ln/>
        </p:spPr>
        <p:txBody>
          <a:bodyPr wrap="square" lIns="0" tIns="0" rIns="0" bIns="0" rtlCol="0" anchor="ctr"/>
          <a:lstStyle/>
          <a:p>
            <a:pPr indent="0" marL="0">
              <a:buNone/>
            </a:pPr>
            <a:r>
              <a:rPr lang="en-US" sz="1500" dirty="0">
                <a:solidFill>
                  <a:srgbClr val="C7C6BB"/>
                </a:solidFill>
                <a:latin typeface="Arial" pitchFamily="34" charset="0"/>
                <a:ea typeface="Arial" pitchFamily="34" charset="-122"/>
                <a:cs typeface="Arial" pitchFamily="34" charset="-120"/>
              </a:rPr>
              <a:t>A SHA-256 hash ties each on-chain commit to the off-chain data.</a:t>
            </a:r>
            <a:endParaRPr lang="en-US" sz="1500" dirty="0"/>
          </a:p>
        </p:txBody>
      </p:sp>
      <p:sp>
        <p:nvSpPr>
          <p:cNvPr id="10" name="Text 8"/>
          <p:cNvSpPr/>
          <p:nvPr/>
        </p:nvSpPr>
        <p:spPr>
          <a:xfrm>
            <a:off x="640080" y="5257800"/>
            <a:ext cx="5943600" cy="1005840"/>
          </a:xfrm>
          <a:prstGeom prst="rect">
            <a:avLst/>
          </a:prstGeom>
          <a:noFill/>
          <a:ln/>
        </p:spPr>
        <p:txBody>
          <a:bodyPr wrap="square" lIns="0" tIns="0" rIns="0" bIns="0" rtlCol="0" anchor="ctr"/>
          <a:lstStyle/>
          <a:p>
            <a:pPr indent="0" marL="0">
              <a:buNone/>
            </a:pPr>
            <a:r>
              <a:rPr lang="en-US" sz="1600" i="1" dirty="0">
                <a:solidFill>
                  <a:srgbClr val="7DB2F5"/>
                </a:solidFill>
                <a:latin typeface="Arial" pitchFamily="34" charset="0"/>
                <a:ea typeface="Arial" pitchFamily="34" charset="-122"/>
                <a:cs typeface="Arial" pitchFamily="34" charset="-120"/>
              </a:rPr>
              <a:t>“Every AI-trading-guru screenshot is survivorship bias. FadeCast's wallet is its reputation.”</a:t>
            </a:r>
            <a:endParaRPr lang="en-US" sz="1600" dirty="0"/>
          </a:p>
        </p:txBody>
      </p:sp>
      <p:sp>
        <p:nvSpPr>
          <p:cNvPr id="11" name="Shape 9"/>
          <p:cNvSpPr/>
          <p:nvPr/>
        </p:nvSpPr>
        <p:spPr>
          <a:xfrm>
            <a:off x="7040880" y="1828800"/>
            <a:ext cx="4526280" cy="4114800"/>
          </a:xfrm>
          <a:prstGeom prst="roundRect">
            <a:avLst>
              <a:gd name="adj" fmla="val 2222"/>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12" name="Text 10"/>
          <p:cNvSpPr/>
          <p:nvPr/>
        </p:nvSpPr>
        <p:spPr>
          <a:xfrm>
            <a:off x="7315200" y="2084832"/>
            <a:ext cx="4023360" cy="320040"/>
          </a:xfrm>
          <a:prstGeom prst="rect">
            <a:avLst/>
          </a:prstGeom>
          <a:noFill/>
          <a:ln/>
        </p:spPr>
        <p:txBody>
          <a:bodyPr wrap="square" lIns="0" tIns="0" rIns="0" bIns="0" rtlCol="0" anchor="ctr"/>
          <a:lstStyle/>
          <a:p>
            <a:pPr indent="0" marL="0">
              <a:buNone/>
            </a:pPr>
            <a:r>
              <a:rPr lang="en-US" sz="1200" b="1" spc="200" kern="0" dirty="0">
                <a:solidFill>
                  <a:srgbClr val="8C8C84"/>
                </a:solidFill>
                <a:latin typeface="Arial" pitchFamily="34" charset="0"/>
                <a:ea typeface="Arial" pitchFamily="34" charset="-122"/>
                <a:cs typeface="Arial" pitchFamily="34" charset="-120"/>
              </a:rPr>
              <a:t>ON-CHAIN RECEIPT</a:t>
            </a:r>
            <a:endParaRPr lang="en-US" sz="1200" dirty="0"/>
          </a:p>
        </p:txBody>
      </p:sp>
      <p:sp>
        <p:nvSpPr>
          <p:cNvPr id="13" name="Text 11"/>
          <p:cNvSpPr/>
          <p:nvPr/>
        </p:nvSpPr>
        <p:spPr>
          <a:xfrm>
            <a:off x="7315200" y="2487168"/>
            <a:ext cx="4023360" cy="365760"/>
          </a:xfrm>
          <a:prstGeom prst="rect">
            <a:avLst/>
          </a:prstGeom>
          <a:noFill/>
          <a:ln/>
        </p:spPr>
        <p:txBody>
          <a:bodyPr wrap="square" lIns="0" tIns="0" rIns="0" bIns="0" rtlCol="0" anchor="ctr"/>
          <a:lstStyle/>
          <a:p>
            <a:pPr indent="0" marL="0">
              <a:buNone/>
            </a:pPr>
            <a:r>
              <a:rPr lang="en-US" sz="1600" b="1" dirty="0">
                <a:solidFill>
                  <a:srgbClr val="3987E5"/>
                </a:solidFill>
                <a:latin typeface="Arial" pitchFamily="34" charset="0"/>
                <a:ea typeface="Arial" pitchFamily="34" charset="-122"/>
                <a:cs typeface="Arial" pitchFamily="34" charset="-120"/>
              </a:rPr>
              <a:t>FADE</a:t>
            </a:r>
            <a:pPr indent="0" marL="0">
              <a:buNone/>
            </a:pPr>
            <a:r>
              <a:rPr lang="en-US" sz="1600" b="1" dirty="0">
                <a:solidFill>
                  <a:srgbClr val="FFFFFF"/>
                </a:solidFill>
                <a:latin typeface="Arial" pitchFamily="34" charset="0"/>
                <a:ea typeface="Arial" pitchFamily="34" charset="-122"/>
                <a:cs typeface="Arial" pitchFamily="34" charset="-120"/>
              </a:rPr>
              <a:t>  Argentina vs Saudi Arabia</a:t>
            </a:r>
            <a:endParaRPr lang="en-US" sz="1600" dirty="0"/>
          </a:p>
        </p:txBody>
      </p:sp>
      <p:sp>
        <p:nvSpPr>
          <p:cNvPr id="14" name="Text 12"/>
          <p:cNvSpPr/>
          <p:nvPr/>
        </p:nvSpPr>
        <p:spPr>
          <a:xfrm>
            <a:off x="7315200" y="2926080"/>
            <a:ext cx="4023360" cy="365760"/>
          </a:xfrm>
          <a:prstGeom prst="rect">
            <a:avLst/>
          </a:prstGeom>
          <a:noFill/>
          <a:ln/>
        </p:spPr>
        <p:txBody>
          <a:bodyPr wrap="square" lIns="0" tIns="0" rIns="0" bIns="0" rtlCol="0" anchor="ctr"/>
          <a:lstStyle/>
          <a:p>
            <a:pPr indent="0" marL="0">
              <a:buNone/>
            </a:pPr>
            <a:r>
              <a:rPr lang="en-US" sz="1300" dirty="0">
                <a:solidFill>
                  <a:srgbClr val="C7C6BB"/>
                </a:solidFill>
                <a:latin typeface="Courier New" pitchFamily="34" charset="0"/>
                <a:ea typeface="Courier New" pitchFamily="34" charset="-122"/>
                <a:cs typeface="Courier New" pitchFamily="34" charset="-120"/>
              </a:rPr>
              <a:t>pre 0.86  →  det 0.72        panic 81 / 100</a:t>
            </a:r>
            <a:endParaRPr lang="en-US" sz="1300" dirty="0"/>
          </a:p>
        </p:txBody>
      </p:sp>
      <p:sp>
        <p:nvSpPr>
          <p:cNvPr id="15" name="Shape 13"/>
          <p:cNvSpPr/>
          <p:nvPr/>
        </p:nvSpPr>
        <p:spPr>
          <a:xfrm>
            <a:off x="7315200" y="3429000"/>
            <a:ext cx="3977640" cy="914"/>
          </a:xfrm>
          <a:prstGeom prst="line">
            <a:avLst/>
          </a:prstGeom>
          <a:noFill/>
          <a:ln w="12700">
            <a:solidFill>
              <a:srgbClr val="323230"/>
            </a:solidFill>
            <a:prstDash val="solid"/>
          </a:ln>
        </p:spPr>
      </p:sp>
      <p:sp>
        <p:nvSpPr>
          <p:cNvPr id="16" name="Text 14"/>
          <p:cNvSpPr/>
          <p:nvPr/>
        </p:nvSpPr>
        <p:spPr>
          <a:xfrm>
            <a:off x="7315200" y="3566160"/>
            <a:ext cx="914400" cy="320040"/>
          </a:xfrm>
          <a:prstGeom prst="rect">
            <a:avLst/>
          </a:prstGeom>
          <a:noFill/>
          <a:ln/>
        </p:spPr>
        <p:txBody>
          <a:bodyPr wrap="square" lIns="0" tIns="0" rIns="0" bIns="0" rtlCol="0" anchor="ctr"/>
          <a:lstStyle/>
          <a:p>
            <a:pPr indent="0" marL="0">
              <a:buNone/>
            </a:pPr>
            <a:r>
              <a:rPr lang="en-US" sz="1200" dirty="0">
                <a:solidFill>
                  <a:srgbClr val="8C8C84"/>
                </a:solidFill>
                <a:latin typeface="Courier New" pitchFamily="34" charset="0"/>
                <a:ea typeface="Courier New" pitchFamily="34" charset="-122"/>
                <a:cs typeface="Courier New" pitchFamily="34" charset="-120"/>
              </a:rPr>
              <a:t>hash</a:t>
            </a:r>
            <a:endParaRPr lang="en-US" sz="1200" dirty="0"/>
          </a:p>
        </p:txBody>
      </p:sp>
      <p:sp>
        <p:nvSpPr>
          <p:cNvPr id="17" name="Text 15"/>
          <p:cNvSpPr/>
          <p:nvPr/>
        </p:nvSpPr>
        <p:spPr>
          <a:xfrm>
            <a:off x="7955280" y="3566160"/>
            <a:ext cx="3383280" cy="320040"/>
          </a:xfrm>
          <a:prstGeom prst="rect">
            <a:avLst/>
          </a:prstGeom>
          <a:noFill/>
          <a:ln/>
        </p:spPr>
        <p:txBody>
          <a:bodyPr wrap="square" lIns="0" tIns="0" rIns="0" bIns="0" rtlCol="0" anchor="ctr"/>
          <a:lstStyle/>
          <a:p>
            <a:pPr indent="0" marL="0">
              <a:buNone/>
            </a:pPr>
            <a:r>
              <a:rPr lang="en-US" sz="1300" dirty="0">
                <a:solidFill>
                  <a:srgbClr val="FAB219"/>
                </a:solidFill>
                <a:latin typeface="Courier New" pitchFamily="34" charset="0"/>
                <a:ea typeface="Courier New" pitchFamily="34" charset="-122"/>
                <a:cs typeface="Courier New" pitchFamily="34" charset="-120"/>
              </a:rPr>
              <a:t>e309d7ce08a67521</a:t>
            </a:r>
            <a:endParaRPr lang="en-US" sz="1300" dirty="0"/>
          </a:p>
        </p:txBody>
      </p:sp>
      <p:sp>
        <p:nvSpPr>
          <p:cNvPr id="18" name="Text 16"/>
          <p:cNvSpPr/>
          <p:nvPr/>
        </p:nvSpPr>
        <p:spPr>
          <a:xfrm>
            <a:off x="7315200" y="3913632"/>
            <a:ext cx="1097280" cy="320040"/>
          </a:xfrm>
          <a:prstGeom prst="rect">
            <a:avLst/>
          </a:prstGeom>
          <a:noFill/>
          <a:ln/>
        </p:spPr>
        <p:txBody>
          <a:bodyPr wrap="square" lIns="0" tIns="0" rIns="0" bIns="0" rtlCol="0" anchor="ctr"/>
          <a:lstStyle/>
          <a:p>
            <a:pPr indent="0" marL="0">
              <a:buNone/>
            </a:pPr>
            <a:r>
              <a:rPr lang="en-US" sz="1200" dirty="0">
                <a:solidFill>
                  <a:srgbClr val="8C8C84"/>
                </a:solidFill>
                <a:latin typeface="Courier New" pitchFamily="34" charset="0"/>
                <a:ea typeface="Courier New" pitchFamily="34" charset="-122"/>
                <a:cs typeface="Courier New" pitchFamily="34" charset="-120"/>
              </a:rPr>
              <a:t>program</a:t>
            </a:r>
            <a:endParaRPr lang="en-US" sz="1200" dirty="0"/>
          </a:p>
        </p:txBody>
      </p:sp>
      <p:sp>
        <p:nvSpPr>
          <p:cNvPr id="19" name="Text 17"/>
          <p:cNvSpPr/>
          <p:nvPr/>
        </p:nvSpPr>
        <p:spPr>
          <a:xfrm>
            <a:off x="8321040" y="3913632"/>
            <a:ext cx="3017520" cy="320040"/>
          </a:xfrm>
          <a:prstGeom prst="rect">
            <a:avLst/>
          </a:prstGeom>
          <a:noFill/>
          <a:ln/>
        </p:spPr>
        <p:txBody>
          <a:bodyPr wrap="square" lIns="0" tIns="0" rIns="0" bIns="0" rtlCol="0" anchor="ctr"/>
          <a:lstStyle/>
          <a:p>
            <a:pPr indent="0" marL="0">
              <a:buNone/>
            </a:pPr>
            <a:r>
              <a:rPr lang="en-US" sz="1300" dirty="0">
                <a:solidFill>
                  <a:srgbClr val="C7C6BB"/>
                </a:solidFill>
                <a:latin typeface="Courier New" pitchFamily="34" charset="0"/>
                <a:ea typeface="Courier New" pitchFamily="34" charset="-122"/>
                <a:cs typeface="Courier New" pitchFamily="34" charset="-120"/>
              </a:rPr>
              <a:t>Memo · devnet</a:t>
            </a:r>
            <a:endParaRPr lang="en-US" sz="1300" dirty="0"/>
          </a:p>
        </p:txBody>
      </p:sp>
      <p:sp>
        <p:nvSpPr>
          <p:cNvPr id="20" name="Shape 18"/>
          <p:cNvSpPr/>
          <p:nvPr/>
        </p:nvSpPr>
        <p:spPr>
          <a:xfrm>
            <a:off x="7315200" y="4434840"/>
            <a:ext cx="3977640" cy="548640"/>
          </a:xfrm>
          <a:prstGeom prst="roundRect">
            <a:avLst>
              <a:gd name="adj" fmla="val 13333"/>
            </a:avLst>
          </a:prstGeom>
          <a:solidFill>
            <a:srgbClr val="12251A"/>
          </a:solidFill>
          <a:ln w="12700">
            <a:solidFill>
              <a:srgbClr val="21B521"/>
            </a:solidFill>
            <a:prstDash val="solid"/>
          </a:ln>
        </p:spPr>
      </p:sp>
      <p:sp>
        <p:nvSpPr>
          <p:cNvPr id="21" name="Text 19"/>
          <p:cNvSpPr/>
          <p:nvPr/>
        </p:nvSpPr>
        <p:spPr>
          <a:xfrm>
            <a:off x="7315200" y="4434840"/>
            <a:ext cx="3977640" cy="548640"/>
          </a:xfrm>
          <a:prstGeom prst="rect">
            <a:avLst/>
          </a:prstGeom>
          <a:noFill/>
          <a:ln/>
        </p:spPr>
        <p:txBody>
          <a:bodyPr wrap="square" lIns="0" tIns="0" rIns="0" bIns="0" rtlCol="0" anchor="ctr"/>
          <a:lstStyle/>
          <a:p>
            <a:pPr algn="ctr" indent="0" marL="0">
              <a:buNone/>
            </a:pPr>
            <a:r>
              <a:rPr lang="en-US" sz="1400" b="1" dirty="0">
                <a:solidFill>
                  <a:srgbClr val="21B521"/>
                </a:solidFill>
                <a:latin typeface="Arial" pitchFamily="34" charset="0"/>
                <a:ea typeface="Arial" pitchFamily="34" charset="-122"/>
                <a:cs typeface="Arial" pitchFamily="34" charset="-120"/>
              </a:rPr>
              <a:t>✓  committed BEFORE resolution</a:t>
            </a:r>
            <a:endParaRPr lang="en-US" sz="1400" dirty="0"/>
          </a:p>
        </p:txBody>
      </p:sp>
      <p:sp>
        <p:nvSpPr>
          <p:cNvPr id="22" name="Text 20"/>
          <p:cNvSpPr/>
          <p:nvPr/>
        </p:nvSpPr>
        <p:spPr>
          <a:xfrm>
            <a:off x="7315200" y="5166360"/>
            <a:ext cx="4023360" cy="365760"/>
          </a:xfrm>
          <a:prstGeom prst="rect">
            <a:avLst/>
          </a:prstGeom>
          <a:noFill/>
          <a:ln/>
        </p:spPr>
        <p:txBody>
          <a:bodyPr wrap="square" lIns="0" tIns="0" rIns="0" bIns="0" rtlCol="0" anchor="ctr"/>
          <a:lstStyle/>
          <a:p>
            <a:pPr indent="0" marL="0">
              <a:buNone/>
            </a:pPr>
            <a:r>
              <a:rPr lang="en-US" sz="1250" dirty="0">
                <a:solidFill>
                  <a:srgbClr val="3987E5"/>
                </a:solidFill>
                <a:latin typeface="Courier New" pitchFamily="34" charset="0"/>
                <a:ea typeface="Courier New" pitchFamily="34" charset="-122"/>
                <a:cs typeface="Courier New" pitchFamily="34" charset="-120"/>
              </a:rPr>
              <a:t>explorer.solana.com/tx/…  ↗</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40080" y="438912"/>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 real edge, tuned on real comebacks</a:t>
            </a:r>
            <a:endParaRPr lang="en-US" sz="3200" dirty="0"/>
          </a:p>
        </p:txBody>
      </p:sp>
      <p:sp>
        <p:nvSpPr>
          <p:cNvPr id="3" name="Shape 1"/>
          <p:cNvSpPr/>
          <p:nvPr/>
        </p:nvSpPr>
        <p:spPr>
          <a:xfrm>
            <a:off x="640080" y="1783080"/>
            <a:ext cx="3429000" cy="1508760"/>
          </a:xfrm>
          <a:prstGeom prst="roundRect">
            <a:avLst>
              <a:gd name="adj" fmla="val 6061"/>
            </a:avLst>
          </a:prstGeom>
          <a:solidFill>
            <a:srgbClr val="1A1A19"/>
          </a:solidFill>
          <a:ln w="12700">
            <a:solidFill>
              <a:srgbClr val="323230"/>
            </a:solidFill>
            <a:prstDash val="solid"/>
          </a:ln>
        </p:spPr>
      </p:sp>
      <p:sp>
        <p:nvSpPr>
          <p:cNvPr id="4" name="Text 2"/>
          <p:cNvSpPr/>
          <p:nvPr/>
        </p:nvSpPr>
        <p:spPr>
          <a:xfrm>
            <a:off x="640080" y="1965960"/>
            <a:ext cx="3429000" cy="749808"/>
          </a:xfrm>
          <a:prstGeom prst="rect">
            <a:avLst/>
          </a:prstGeom>
          <a:noFill/>
          <a:ln/>
        </p:spPr>
        <p:txBody>
          <a:bodyPr wrap="square" lIns="0" tIns="0" rIns="0" bIns="0" rtlCol="0" anchor="ctr"/>
          <a:lstStyle/>
          <a:p>
            <a:pPr algn="ctr" indent="0" marL="0">
              <a:buNone/>
            </a:pPr>
            <a:r>
              <a:rPr lang="en-US" sz="4400" b="1" dirty="0">
                <a:solidFill>
                  <a:srgbClr val="21B521"/>
                </a:solidFill>
                <a:latin typeface="Arial" pitchFamily="34" charset="0"/>
                <a:ea typeface="Arial" pitchFamily="34" charset="-122"/>
                <a:cs typeface="Arial" pitchFamily="34" charset="-120"/>
              </a:rPr>
              <a:t>~80%</a:t>
            </a:r>
            <a:endParaRPr lang="en-US" sz="4400" dirty="0"/>
          </a:p>
        </p:txBody>
      </p:sp>
      <p:sp>
        <p:nvSpPr>
          <p:cNvPr id="5" name="Text 3"/>
          <p:cNvSpPr/>
          <p:nvPr/>
        </p:nvSpPr>
        <p:spPr>
          <a:xfrm>
            <a:off x="749808" y="2697480"/>
            <a:ext cx="3209544" cy="502920"/>
          </a:xfrm>
          <a:prstGeom prst="rect">
            <a:avLst/>
          </a:prstGeom>
          <a:noFill/>
          <a:ln/>
        </p:spPr>
        <p:txBody>
          <a:bodyPr wrap="square" lIns="0" tIns="0" rIns="0" bIns="0" rtlCol="0" anchor="ctr"/>
          <a:lstStyle/>
          <a:p>
            <a:pPr algn="ctr" indent="0" marL="0">
              <a:buNone/>
            </a:pPr>
            <a:r>
              <a:rPr lang="en-US" sz="1200" dirty="0">
                <a:solidFill>
                  <a:srgbClr val="C7C6BB"/>
                </a:solidFill>
                <a:latin typeface="Arial" pitchFamily="34" charset="0"/>
                <a:ea typeface="Arial" pitchFamily="34" charset="-122"/>
                <a:cs typeface="Arial" pitchFamily="34" charset="-120"/>
              </a:rPr>
              <a:t>win rate across replayed real matches</a:t>
            </a:r>
            <a:endParaRPr lang="en-US" sz="1200" dirty="0"/>
          </a:p>
        </p:txBody>
      </p:sp>
      <p:sp>
        <p:nvSpPr>
          <p:cNvPr id="6" name="Shape 4"/>
          <p:cNvSpPr/>
          <p:nvPr/>
        </p:nvSpPr>
        <p:spPr>
          <a:xfrm>
            <a:off x="4379976" y="1783080"/>
            <a:ext cx="3429000" cy="1508760"/>
          </a:xfrm>
          <a:prstGeom prst="roundRect">
            <a:avLst>
              <a:gd name="adj" fmla="val 6061"/>
            </a:avLst>
          </a:prstGeom>
          <a:solidFill>
            <a:srgbClr val="1A1A19"/>
          </a:solidFill>
          <a:ln w="12700">
            <a:solidFill>
              <a:srgbClr val="323230"/>
            </a:solidFill>
            <a:prstDash val="solid"/>
          </a:ln>
        </p:spPr>
      </p:sp>
      <p:sp>
        <p:nvSpPr>
          <p:cNvPr id="7" name="Text 5"/>
          <p:cNvSpPr/>
          <p:nvPr/>
        </p:nvSpPr>
        <p:spPr>
          <a:xfrm>
            <a:off x="4379976" y="1965960"/>
            <a:ext cx="3429000" cy="749808"/>
          </a:xfrm>
          <a:prstGeom prst="rect">
            <a:avLst/>
          </a:prstGeom>
          <a:noFill/>
          <a:ln/>
        </p:spPr>
        <p:txBody>
          <a:bodyPr wrap="square" lIns="0" tIns="0" rIns="0" bIns="0" rtlCol="0" anchor="ctr"/>
          <a:lstStyle/>
          <a:p>
            <a:pPr algn="ctr" indent="0" marL="0">
              <a:buNone/>
            </a:pPr>
            <a:r>
              <a:rPr lang="en-US" sz="4400" b="1" dirty="0">
                <a:solidFill>
                  <a:srgbClr val="3987E5"/>
                </a:solidFill>
                <a:latin typeface="Arial" pitchFamily="34" charset="0"/>
                <a:ea typeface="Arial" pitchFamily="34" charset="-122"/>
                <a:cs typeface="Arial" pitchFamily="34" charset="-120"/>
              </a:rPr>
              <a:t>6</a:t>
            </a:r>
            <a:endParaRPr lang="en-US" sz="4400" dirty="0"/>
          </a:p>
        </p:txBody>
      </p:sp>
      <p:sp>
        <p:nvSpPr>
          <p:cNvPr id="8" name="Text 6"/>
          <p:cNvSpPr/>
          <p:nvPr/>
        </p:nvSpPr>
        <p:spPr>
          <a:xfrm>
            <a:off x="4489704" y="2697480"/>
            <a:ext cx="3209544" cy="502920"/>
          </a:xfrm>
          <a:prstGeom prst="rect">
            <a:avLst/>
          </a:prstGeom>
          <a:noFill/>
          <a:ln/>
        </p:spPr>
        <p:txBody>
          <a:bodyPr wrap="square" lIns="0" tIns="0" rIns="0" bIns="0" rtlCol="0" anchor="ctr"/>
          <a:lstStyle/>
          <a:p>
            <a:pPr algn="ctr" indent="0" marL="0">
              <a:buNone/>
            </a:pPr>
            <a:r>
              <a:rPr lang="en-US" sz="1200" dirty="0">
                <a:solidFill>
                  <a:srgbClr val="C7C6BB"/>
                </a:solidFill>
                <a:latin typeface="Arial" pitchFamily="34" charset="0"/>
                <a:ea typeface="Arial" pitchFamily="34" charset="-122"/>
                <a:cs typeface="Arial" pitchFamily="34" charset="-120"/>
              </a:rPr>
              <a:t>real 2022 World Cup fixtures backtested</a:t>
            </a:r>
            <a:endParaRPr lang="en-US" sz="1200" dirty="0"/>
          </a:p>
        </p:txBody>
      </p:sp>
      <p:sp>
        <p:nvSpPr>
          <p:cNvPr id="9" name="Shape 7"/>
          <p:cNvSpPr/>
          <p:nvPr/>
        </p:nvSpPr>
        <p:spPr>
          <a:xfrm>
            <a:off x="8119872" y="1783080"/>
            <a:ext cx="3429000" cy="1508760"/>
          </a:xfrm>
          <a:prstGeom prst="roundRect">
            <a:avLst>
              <a:gd name="adj" fmla="val 6061"/>
            </a:avLst>
          </a:prstGeom>
          <a:solidFill>
            <a:srgbClr val="1A1A19"/>
          </a:solidFill>
          <a:ln w="12700">
            <a:solidFill>
              <a:srgbClr val="323230"/>
            </a:solidFill>
            <a:prstDash val="solid"/>
          </a:ln>
        </p:spPr>
      </p:sp>
      <p:sp>
        <p:nvSpPr>
          <p:cNvPr id="10" name="Text 8"/>
          <p:cNvSpPr/>
          <p:nvPr/>
        </p:nvSpPr>
        <p:spPr>
          <a:xfrm>
            <a:off x="8119872" y="1965960"/>
            <a:ext cx="3429000" cy="749808"/>
          </a:xfrm>
          <a:prstGeom prst="rect">
            <a:avLst/>
          </a:prstGeom>
          <a:noFill/>
          <a:ln/>
        </p:spPr>
        <p:txBody>
          <a:bodyPr wrap="square" lIns="0" tIns="0" rIns="0" bIns="0" rtlCol="0" anchor="ctr"/>
          <a:lstStyle/>
          <a:p>
            <a:pPr algn="ctr" indent="0" marL="0">
              <a:buNone/>
            </a:pPr>
            <a:r>
              <a:rPr lang="en-US" sz="4400" b="1" dirty="0">
                <a:solidFill>
                  <a:srgbClr val="FAB219"/>
                </a:solidFill>
                <a:latin typeface="Arial" pitchFamily="34" charset="0"/>
                <a:ea typeface="Arial" pitchFamily="34" charset="-122"/>
                <a:cs typeface="Arial" pitchFamily="34" charset="-120"/>
              </a:rPr>
              <a:t>2</a:t>
            </a:r>
            <a:endParaRPr lang="en-US" sz="4400" dirty="0"/>
          </a:p>
        </p:txBody>
      </p:sp>
      <p:sp>
        <p:nvSpPr>
          <p:cNvPr id="11" name="Text 9"/>
          <p:cNvSpPr/>
          <p:nvPr/>
        </p:nvSpPr>
        <p:spPr>
          <a:xfrm>
            <a:off x="8229600" y="2697480"/>
            <a:ext cx="3209544" cy="502920"/>
          </a:xfrm>
          <a:prstGeom prst="rect">
            <a:avLst/>
          </a:prstGeom>
          <a:noFill/>
          <a:ln/>
        </p:spPr>
        <p:txBody>
          <a:bodyPr wrap="square" lIns="0" tIns="0" rIns="0" bIns="0" rtlCol="0" anchor="ctr"/>
          <a:lstStyle/>
          <a:p>
            <a:pPr algn="ctr" indent="0" marL="0">
              <a:buNone/>
            </a:pPr>
            <a:r>
              <a:rPr lang="en-US" sz="1200" dirty="0">
                <a:solidFill>
                  <a:srgbClr val="C7C6BB"/>
                </a:solidFill>
                <a:latin typeface="Arial" pitchFamily="34" charset="0"/>
                <a:ea typeface="Arial" pitchFamily="34" charset="-122"/>
                <a:cs typeface="Arial" pitchFamily="34" charset="-120"/>
              </a:rPr>
              <a:t>losses cut by stop-loss on real comebacks</a:t>
            </a:r>
            <a:endParaRPr lang="en-US" sz="1200" dirty="0"/>
          </a:p>
        </p:txBody>
      </p:sp>
      <p:sp>
        <p:nvSpPr>
          <p:cNvPr id="12" name="Shape 10"/>
          <p:cNvSpPr/>
          <p:nvPr/>
        </p:nvSpPr>
        <p:spPr>
          <a:xfrm>
            <a:off x="640080" y="3566160"/>
            <a:ext cx="6720840" cy="2743200"/>
          </a:xfrm>
          <a:prstGeom prst="roundRect">
            <a:avLst>
              <a:gd name="adj" fmla="val 3333"/>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13" name="Shape 11"/>
          <p:cNvSpPr/>
          <p:nvPr/>
        </p:nvSpPr>
        <p:spPr>
          <a:xfrm flipV="1">
            <a:off x="1051560" y="5125212"/>
            <a:ext cx="356616" cy="15545"/>
          </a:xfrm>
          <a:prstGeom prst="line">
            <a:avLst/>
          </a:prstGeom>
          <a:noFill/>
          <a:ln w="31750">
            <a:solidFill>
              <a:srgbClr val="3987E5"/>
            </a:solidFill>
            <a:prstDash val="solid"/>
          </a:ln>
        </p:spPr>
      </p:sp>
      <p:sp>
        <p:nvSpPr>
          <p:cNvPr id="14" name="Shape 12"/>
          <p:cNvSpPr/>
          <p:nvPr/>
        </p:nvSpPr>
        <p:spPr>
          <a:xfrm>
            <a:off x="1408176" y="5125212"/>
            <a:ext cx="356616" cy="31090"/>
          </a:xfrm>
          <a:prstGeom prst="line">
            <a:avLst/>
          </a:prstGeom>
          <a:noFill/>
          <a:ln w="31750">
            <a:solidFill>
              <a:srgbClr val="3987E5"/>
            </a:solidFill>
            <a:prstDash val="solid"/>
          </a:ln>
        </p:spPr>
      </p:sp>
      <p:sp>
        <p:nvSpPr>
          <p:cNvPr id="15" name="Shape 13"/>
          <p:cNvSpPr/>
          <p:nvPr/>
        </p:nvSpPr>
        <p:spPr>
          <a:xfrm flipV="1">
            <a:off x="1764792" y="5125212"/>
            <a:ext cx="356616" cy="31090"/>
          </a:xfrm>
          <a:prstGeom prst="line">
            <a:avLst/>
          </a:prstGeom>
          <a:noFill/>
          <a:ln w="31750">
            <a:solidFill>
              <a:srgbClr val="3987E5"/>
            </a:solidFill>
            <a:prstDash val="solid"/>
          </a:ln>
        </p:spPr>
      </p:sp>
      <p:sp>
        <p:nvSpPr>
          <p:cNvPr id="16" name="Shape 14"/>
          <p:cNvSpPr/>
          <p:nvPr/>
        </p:nvSpPr>
        <p:spPr>
          <a:xfrm>
            <a:off x="2121408" y="5125212"/>
            <a:ext cx="356616" cy="31090"/>
          </a:xfrm>
          <a:prstGeom prst="line">
            <a:avLst/>
          </a:prstGeom>
          <a:noFill/>
          <a:ln w="31750">
            <a:solidFill>
              <a:srgbClr val="3987E5"/>
            </a:solidFill>
            <a:prstDash val="solid"/>
          </a:ln>
        </p:spPr>
      </p:sp>
      <p:sp>
        <p:nvSpPr>
          <p:cNvPr id="17" name="Shape 15"/>
          <p:cNvSpPr/>
          <p:nvPr/>
        </p:nvSpPr>
        <p:spPr>
          <a:xfrm flipV="1">
            <a:off x="2478024" y="5125212"/>
            <a:ext cx="356616" cy="31090"/>
          </a:xfrm>
          <a:prstGeom prst="line">
            <a:avLst/>
          </a:prstGeom>
          <a:noFill/>
          <a:ln w="31750">
            <a:solidFill>
              <a:srgbClr val="3987E5"/>
            </a:solidFill>
            <a:prstDash val="solid"/>
          </a:ln>
        </p:spPr>
      </p:sp>
      <p:sp>
        <p:nvSpPr>
          <p:cNvPr id="18" name="Shape 16"/>
          <p:cNvSpPr/>
          <p:nvPr/>
        </p:nvSpPr>
        <p:spPr>
          <a:xfrm>
            <a:off x="2834640" y="5125212"/>
            <a:ext cx="356616" cy="15545"/>
          </a:xfrm>
          <a:prstGeom prst="line">
            <a:avLst/>
          </a:prstGeom>
          <a:noFill/>
          <a:ln w="31750">
            <a:solidFill>
              <a:srgbClr val="3987E5"/>
            </a:solidFill>
            <a:prstDash val="solid"/>
          </a:ln>
        </p:spPr>
      </p:sp>
      <p:sp>
        <p:nvSpPr>
          <p:cNvPr id="19" name="Shape 17"/>
          <p:cNvSpPr/>
          <p:nvPr/>
        </p:nvSpPr>
        <p:spPr>
          <a:xfrm flipV="1">
            <a:off x="3191256" y="4892040"/>
            <a:ext cx="237744" cy="248717"/>
          </a:xfrm>
          <a:prstGeom prst="line">
            <a:avLst/>
          </a:prstGeom>
          <a:noFill/>
          <a:ln w="31750">
            <a:solidFill>
              <a:srgbClr val="3987E5"/>
            </a:solidFill>
            <a:prstDash val="solid"/>
          </a:ln>
        </p:spPr>
      </p:sp>
      <p:sp>
        <p:nvSpPr>
          <p:cNvPr id="20" name="Shape 18"/>
          <p:cNvSpPr/>
          <p:nvPr/>
        </p:nvSpPr>
        <p:spPr>
          <a:xfrm flipV="1">
            <a:off x="3429000" y="4518965"/>
            <a:ext cx="237744" cy="373075"/>
          </a:xfrm>
          <a:prstGeom prst="line">
            <a:avLst/>
          </a:prstGeom>
          <a:noFill/>
          <a:ln w="31750">
            <a:solidFill>
              <a:srgbClr val="3987E5"/>
            </a:solidFill>
            <a:prstDash val="solid"/>
          </a:ln>
        </p:spPr>
      </p:sp>
      <p:sp>
        <p:nvSpPr>
          <p:cNvPr id="21" name="Shape 19"/>
          <p:cNvSpPr/>
          <p:nvPr/>
        </p:nvSpPr>
        <p:spPr>
          <a:xfrm flipV="1">
            <a:off x="3666744" y="4332427"/>
            <a:ext cx="178308" cy="186538"/>
          </a:xfrm>
          <a:prstGeom prst="line">
            <a:avLst/>
          </a:prstGeom>
          <a:noFill/>
          <a:ln w="31750">
            <a:solidFill>
              <a:srgbClr val="3987E5"/>
            </a:solidFill>
            <a:prstDash val="solid"/>
          </a:ln>
        </p:spPr>
      </p:sp>
      <p:sp>
        <p:nvSpPr>
          <p:cNvPr id="22" name="Shape 20"/>
          <p:cNvSpPr/>
          <p:nvPr/>
        </p:nvSpPr>
        <p:spPr>
          <a:xfrm>
            <a:off x="3845052" y="4332427"/>
            <a:ext cx="237744" cy="46634"/>
          </a:xfrm>
          <a:prstGeom prst="line">
            <a:avLst/>
          </a:prstGeom>
          <a:noFill/>
          <a:ln w="31750">
            <a:solidFill>
              <a:srgbClr val="3987E5"/>
            </a:solidFill>
            <a:prstDash val="solid"/>
          </a:ln>
        </p:spPr>
      </p:sp>
      <p:sp>
        <p:nvSpPr>
          <p:cNvPr id="23" name="Shape 21"/>
          <p:cNvSpPr/>
          <p:nvPr/>
        </p:nvSpPr>
        <p:spPr>
          <a:xfrm>
            <a:off x="4082796" y="4379062"/>
            <a:ext cx="297180" cy="108814"/>
          </a:xfrm>
          <a:prstGeom prst="line">
            <a:avLst/>
          </a:prstGeom>
          <a:noFill/>
          <a:ln w="31750">
            <a:solidFill>
              <a:srgbClr val="3987E5"/>
            </a:solidFill>
            <a:prstDash val="solid"/>
          </a:ln>
        </p:spPr>
      </p:sp>
      <p:sp>
        <p:nvSpPr>
          <p:cNvPr id="24" name="Shape 22"/>
          <p:cNvSpPr/>
          <p:nvPr/>
        </p:nvSpPr>
        <p:spPr>
          <a:xfrm>
            <a:off x="4379976" y="4487875"/>
            <a:ext cx="356616" cy="93269"/>
          </a:xfrm>
          <a:prstGeom prst="line">
            <a:avLst/>
          </a:prstGeom>
          <a:noFill/>
          <a:ln w="31750">
            <a:solidFill>
              <a:srgbClr val="3987E5"/>
            </a:solidFill>
            <a:prstDash val="solid"/>
          </a:ln>
        </p:spPr>
      </p:sp>
      <p:sp>
        <p:nvSpPr>
          <p:cNvPr id="25" name="Shape 23"/>
          <p:cNvSpPr/>
          <p:nvPr/>
        </p:nvSpPr>
        <p:spPr>
          <a:xfrm>
            <a:off x="4736592" y="4581144"/>
            <a:ext cx="475488" cy="77724"/>
          </a:xfrm>
          <a:prstGeom prst="line">
            <a:avLst/>
          </a:prstGeom>
          <a:noFill/>
          <a:ln w="31750">
            <a:solidFill>
              <a:srgbClr val="3987E5"/>
            </a:solidFill>
            <a:prstDash val="solid"/>
          </a:ln>
        </p:spPr>
      </p:sp>
      <p:sp>
        <p:nvSpPr>
          <p:cNvPr id="26" name="Shape 24"/>
          <p:cNvSpPr/>
          <p:nvPr/>
        </p:nvSpPr>
        <p:spPr>
          <a:xfrm>
            <a:off x="5212080" y="4658868"/>
            <a:ext cx="594360" cy="46634"/>
          </a:xfrm>
          <a:prstGeom prst="line">
            <a:avLst/>
          </a:prstGeom>
          <a:noFill/>
          <a:ln w="31750">
            <a:solidFill>
              <a:srgbClr val="3987E5"/>
            </a:solidFill>
            <a:prstDash val="solid"/>
          </a:ln>
        </p:spPr>
      </p:sp>
      <p:sp>
        <p:nvSpPr>
          <p:cNvPr id="27" name="Shape 25"/>
          <p:cNvSpPr/>
          <p:nvPr/>
        </p:nvSpPr>
        <p:spPr>
          <a:xfrm>
            <a:off x="5806440" y="4705502"/>
            <a:ext cx="594360" cy="7772"/>
          </a:xfrm>
          <a:prstGeom prst="line">
            <a:avLst/>
          </a:prstGeom>
          <a:noFill/>
          <a:ln w="31750">
            <a:solidFill>
              <a:srgbClr val="3987E5"/>
            </a:solidFill>
            <a:prstDash val="solid"/>
          </a:ln>
        </p:spPr>
      </p:sp>
      <p:sp>
        <p:nvSpPr>
          <p:cNvPr id="28" name="Shape 26"/>
          <p:cNvSpPr/>
          <p:nvPr/>
        </p:nvSpPr>
        <p:spPr>
          <a:xfrm flipV="1">
            <a:off x="6400800" y="4705502"/>
            <a:ext cx="594360" cy="7772"/>
          </a:xfrm>
          <a:prstGeom prst="line">
            <a:avLst/>
          </a:prstGeom>
          <a:noFill/>
          <a:ln w="31750">
            <a:solidFill>
              <a:srgbClr val="3987E5"/>
            </a:solidFill>
            <a:prstDash val="solid"/>
          </a:ln>
        </p:spPr>
      </p:sp>
      <p:sp>
        <p:nvSpPr>
          <p:cNvPr id="29" name="Text 27"/>
          <p:cNvSpPr/>
          <p:nvPr/>
        </p:nvSpPr>
        <p:spPr>
          <a:xfrm>
            <a:off x="3246120" y="3977640"/>
            <a:ext cx="1097280" cy="274320"/>
          </a:xfrm>
          <a:prstGeom prst="rect">
            <a:avLst/>
          </a:prstGeom>
          <a:noFill/>
          <a:ln/>
        </p:spPr>
        <p:txBody>
          <a:bodyPr wrap="square" lIns="0" tIns="0" rIns="0" bIns="0" rtlCol="0" anchor="ctr"/>
          <a:lstStyle/>
          <a:p>
            <a:pPr algn="ctr" indent="0" marL="0">
              <a:buNone/>
            </a:pPr>
            <a:r>
              <a:rPr lang="en-US" sz="1100" b="1" dirty="0">
                <a:solidFill>
                  <a:srgbClr val="E24B41"/>
                </a:solidFill>
                <a:latin typeface="Arial" pitchFamily="34" charset="0"/>
                <a:ea typeface="Arial" pitchFamily="34" charset="-122"/>
                <a:cs typeface="Arial" pitchFamily="34" charset="-120"/>
              </a:rPr>
              <a:t>GOAL</a:t>
            </a:r>
            <a:endParaRPr lang="en-US" sz="1100" dirty="0"/>
          </a:p>
        </p:txBody>
      </p:sp>
      <p:sp>
        <p:nvSpPr>
          <p:cNvPr id="30" name="Text 28"/>
          <p:cNvSpPr/>
          <p:nvPr/>
        </p:nvSpPr>
        <p:spPr>
          <a:xfrm>
            <a:off x="4160520" y="3977640"/>
            <a:ext cx="1463040" cy="274320"/>
          </a:xfrm>
          <a:prstGeom prst="rect">
            <a:avLst/>
          </a:prstGeom>
          <a:noFill/>
          <a:ln/>
        </p:spPr>
        <p:txBody>
          <a:bodyPr wrap="square" lIns="0" tIns="0" rIns="0" bIns="0" rtlCol="0" anchor="ctr"/>
          <a:lstStyle/>
          <a:p>
            <a:pPr algn="ctr" indent="0" marL="0">
              <a:buNone/>
            </a:pPr>
            <a:r>
              <a:rPr lang="en-US" sz="1100" b="1" dirty="0">
                <a:solidFill>
                  <a:srgbClr val="FAB219"/>
                </a:solidFill>
                <a:latin typeface="Arial" pitchFamily="34" charset="0"/>
                <a:ea typeface="Arial" pitchFamily="34" charset="-122"/>
                <a:cs typeface="Arial" pitchFamily="34" charset="-120"/>
              </a:rPr>
              <a:t>FADE ENTRY</a:t>
            </a:r>
            <a:endParaRPr lang="en-US" sz="1100" dirty="0"/>
          </a:p>
        </p:txBody>
      </p:sp>
      <p:sp>
        <p:nvSpPr>
          <p:cNvPr id="31" name="Text 29"/>
          <p:cNvSpPr/>
          <p:nvPr/>
        </p:nvSpPr>
        <p:spPr>
          <a:xfrm>
            <a:off x="5760720" y="5440680"/>
            <a:ext cx="1737360" cy="274320"/>
          </a:xfrm>
          <a:prstGeom prst="rect">
            <a:avLst/>
          </a:prstGeom>
          <a:noFill/>
          <a:ln/>
        </p:spPr>
        <p:txBody>
          <a:bodyPr wrap="square" lIns="0" tIns="0" rIns="0" bIns="0" rtlCol="0" anchor="ctr"/>
          <a:lstStyle/>
          <a:p>
            <a:pPr algn="l" indent="0" marL="0">
              <a:buNone/>
            </a:pPr>
            <a:r>
              <a:rPr lang="en-US" sz="1100" b="1" dirty="0">
                <a:solidFill>
                  <a:srgbClr val="21B521"/>
                </a:solidFill>
                <a:latin typeface="Arial" pitchFamily="34" charset="0"/>
                <a:ea typeface="Arial" pitchFamily="34" charset="-122"/>
                <a:cs typeface="Arial" pitchFamily="34" charset="-120"/>
              </a:rPr>
              <a:t>REVERT → profit</a:t>
            </a:r>
            <a:endParaRPr lang="en-US" sz="1100" dirty="0"/>
          </a:p>
        </p:txBody>
      </p:sp>
      <p:sp>
        <p:nvSpPr>
          <p:cNvPr id="32" name="Text 30"/>
          <p:cNvSpPr/>
          <p:nvPr/>
        </p:nvSpPr>
        <p:spPr>
          <a:xfrm>
            <a:off x="1051560" y="5852160"/>
            <a:ext cx="5943600" cy="365760"/>
          </a:xfrm>
          <a:prstGeom prst="rect">
            <a:avLst/>
          </a:prstGeom>
          <a:noFill/>
          <a:ln/>
        </p:spPr>
        <p:txBody>
          <a:bodyPr wrap="square" lIns="0" tIns="0" rIns="0" bIns="0" rtlCol="0" anchor="ctr"/>
          <a:lstStyle/>
          <a:p>
            <a:pPr indent="0" marL="0">
              <a:buNone/>
            </a:pPr>
            <a:r>
              <a:rPr lang="en-US" sz="1250" i="1" dirty="0">
                <a:solidFill>
                  <a:srgbClr val="8C8C84"/>
                </a:solidFill>
                <a:latin typeface="Arial" pitchFamily="34" charset="0"/>
                <a:ea typeface="Arial" pitchFamily="34" charset="-122"/>
                <a:cs typeface="Arial" pitchFamily="34" charset="-120"/>
              </a:rPr>
              <a:t>Wait for the panic to exhaust itself, then fade — never catch the falling knife.</a:t>
            </a:r>
            <a:endParaRPr lang="en-US" sz="1250" dirty="0"/>
          </a:p>
        </p:txBody>
      </p:sp>
      <p:sp>
        <p:nvSpPr>
          <p:cNvPr id="33" name="Shape 31"/>
          <p:cNvSpPr/>
          <p:nvPr/>
        </p:nvSpPr>
        <p:spPr>
          <a:xfrm>
            <a:off x="7589520" y="3566160"/>
            <a:ext cx="3977640" cy="2743200"/>
          </a:xfrm>
          <a:prstGeom prst="roundRect">
            <a:avLst>
              <a:gd name="adj" fmla="val 3333"/>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34" name="Text 32"/>
          <p:cNvSpPr/>
          <p:nvPr/>
        </p:nvSpPr>
        <p:spPr>
          <a:xfrm>
            <a:off x="7863840" y="3794760"/>
            <a:ext cx="3474720" cy="320040"/>
          </a:xfrm>
          <a:prstGeom prst="rect">
            <a:avLst/>
          </a:prstGeom>
          <a:noFill/>
          <a:ln/>
        </p:spPr>
        <p:txBody>
          <a:bodyPr wrap="square" lIns="0" tIns="0" rIns="0" bIns="0" rtlCol="0" anchor="ctr"/>
          <a:lstStyle/>
          <a:p>
            <a:pPr indent="0" marL="0">
              <a:buNone/>
            </a:pPr>
            <a:r>
              <a:rPr lang="en-US" sz="1200" b="1" spc="200" kern="0" dirty="0">
                <a:solidFill>
                  <a:srgbClr val="8C8C84"/>
                </a:solidFill>
                <a:latin typeface="Arial" pitchFamily="34" charset="0"/>
                <a:ea typeface="Arial" pitchFamily="34" charset="-122"/>
                <a:cs typeface="Arial" pitchFamily="34" charset="-120"/>
              </a:rPr>
              <a:t>THE RULES</a:t>
            </a:r>
            <a:endParaRPr lang="en-US" sz="1200" dirty="0"/>
          </a:p>
        </p:txBody>
      </p:sp>
      <p:sp>
        <p:nvSpPr>
          <p:cNvPr id="35" name="Text 33"/>
          <p:cNvSpPr/>
          <p:nvPr/>
        </p:nvSpPr>
        <p:spPr>
          <a:xfrm>
            <a:off x="7863840" y="4206240"/>
            <a:ext cx="1051560" cy="365760"/>
          </a:xfrm>
          <a:prstGeom prst="rect">
            <a:avLst/>
          </a:prstGeom>
          <a:noFill/>
          <a:ln/>
        </p:spPr>
        <p:txBody>
          <a:bodyPr wrap="square" lIns="0" tIns="0" rIns="0" bIns="0" rtlCol="0" anchor="ctr"/>
          <a:lstStyle/>
          <a:p>
            <a:pPr indent="0" marL="0">
              <a:buNone/>
            </a:pPr>
            <a:r>
              <a:rPr lang="en-US" sz="1300" b="1" dirty="0">
                <a:solidFill>
                  <a:srgbClr val="3987E5"/>
                </a:solidFill>
                <a:latin typeface="Arial" pitchFamily="34" charset="0"/>
                <a:ea typeface="Arial" pitchFamily="34" charset="-122"/>
                <a:cs typeface="Arial" pitchFamily="34" charset="-120"/>
              </a:rPr>
              <a:t>jump</a:t>
            </a:r>
            <a:endParaRPr lang="en-US" sz="1300" dirty="0"/>
          </a:p>
        </p:txBody>
      </p:sp>
      <p:sp>
        <p:nvSpPr>
          <p:cNvPr id="36" name="Text 34"/>
          <p:cNvSpPr/>
          <p:nvPr/>
        </p:nvSpPr>
        <p:spPr>
          <a:xfrm>
            <a:off x="8869680" y="4206240"/>
            <a:ext cx="2468880" cy="365760"/>
          </a:xfrm>
          <a:prstGeom prst="rect">
            <a:avLst/>
          </a:prstGeom>
          <a:noFill/>
          <a:ln/>
        </p:spPr>
        <p:txBody>
          <a:bodyPr wrap="square" lIns="0" tIns="0" rIns="0" bIns="0" rtlCol="0" anchor="ctr"/>
          <a:lstStyle/>
          <a:p>
            <a:pPr indent="0" marL="0">
              <a:buNone/>
            </a:pPr>
            <a:r>
              <a:rPr lang="en-US" sz="1300" dirty="0">
                <a:solidFill>
                  <a:srgbClr val="C7C6BB"/>
                </a:solidFill>
                <a:latin typeface="Arial" pitchFamily="34" charset="0"/>
                <a:ea typeface="Arial" pitchFamily="34" charset="-122"/>
                <a:cs typeface="Arial" pitchFamily="34" charset="-120"/>
              </a:rPr>
              <a:t>≥ 6 pts in 45s</a:t>
            </a:r>
            <a:endParaRPr lang="en-US" sz="1300" dirty="0"/>
          </a:p>
        </p:txBody>
      </p:sp>
      <p:sp>
        <p:nvSpPr>
          <p:cNvPr id="37" name="Text 35"/>
          <p:cNvSpPr/>
          <p:nvPr/>
        </p:nvSpPr>
        <p:spPr>
          <a:xfrm>
            <a:off x="7863840" y="4608576"/>
            <a:ext cx="1051560" cy="365760"/>
          </a:xfrm>
          <a:prstGeom prst="rect">
            <a:avLst/>
          </a:prstGeom>
          <a:noFill/>
          <a:ln/>
        </p:spPr>
        <p:txBody>
          <a:bodyPr wrap="square" lIns="0" tIns="0" rIns="0" bIns="0" rtlCol="0" anchor="ctr"/>
          <a:lstStyle/>
          <a:p>
            <a:pPr indent="0" marL="0">
              <a:buNone/>
            </a:pPr>
            <a:r>
              <a:rPr lang="en-US" sz="1300" b="1" dirty="0">
                <a:solidFill>
                  <a:srgbClr val="3987E5"/>
                </a:solidFill>
                <a:latin typeface="Arial" pitchFamily="34" charset="0"/>
                <a:ea typeface="Arial" pitchFamily="34" charset="-122"/>
                <a:cs typeface="Arial" pitchFamily="34" charset="-120"/>
              </a:rPr>
              <a:t>band</a:t>
            </a:r>
            <a:endParaRPr lang="en-US" sz="1300" dirty="0"/>
          </a:p>
        </p:txBody>
      </p:sp>
      <p:sp>
        <p:nvSpPr>
          <p:cNvPr id="38" name="Text 36"/>
          <p:cNvSpPr/>
          <p:nvPr/>
        </p:nvSpPr>
        <p:spPr>
          <a:xfrm>
            <a:off x="8869680" y="4608576"/>
            <a:ext cx="2468880" cy="365760"/>
          </a:xfrm>
          <a:prstGeom prst="rect">
            <a:avLst/>
          </a:prstGeom>
          <a:noFill/>
          <a:ln/>
        </p:spPr>
        <p:txBody>
          <a:bodyPr wrap="square" lIns="0" tIns="0" rIns="0" bIns="0" rtlCol="0" anchor="ctr"/>
          <a:lstStyle/>
          <a:p>
            <a:pPr indent="0" marL="0">
              <a:buNone/>
            </a:pPr>
            <a:r>
              <a:rPr lang="en-US" sz="1300" dirty="0">
                <a:solidFill>
                  <a:srgbClr val="C7C6BB"/>
                </a:solidFill>
                <a:latin typeface="Arial" pitchFamily="34" charset="0"/>
                <a:ea typeface="Arial" pitchFamily="34" charset="-122"/>
                <a:cs typeface="Arial" pitchFamily="34" charset="-120"/>
              </a:rPr>
              <a:t>only 0.08 – 0.92</a:t>
            </a:r>
            <a:endParaRPr lang="en-US" sz="1300" dirty="0"/>
          </a:p>
        </p:txBody>
      </p:sp>
      <p:sp>
        <p:nvSpPr>
          <p:cNvPr id="39" name="Text 37"/>
          <p:cNvSpPr/>
          <p:nvPr/>
        </p:nvSpPr>
        <p:spPr>
          <a:xfrm>
            <a:off x="7863840" y="5010912"/>
            <a:ext cx="1051560" cy="365760"/>
          </a:xfrm>
          <a:prstGeom prst="rect">
            <a:avLst/>
          </a:prstGeom>
          <a:noFill/>
          <a:ln/>
        </p:spPr>
        <p:txBody>
          <a:bodyPr wrap="square" lIns="0" tIns="0" rIns="0" bIns="0" rtlCol="0" anchor="ctr"/>
          <a:lstStyle/>
          <a:p>
            <a:pPr indent="0" marL="0">
              <a:buNone/>
            </a:pPr>
            <a:r>
              <a:rPr lang="en-US" sz="1300" b="1" dirty="0">
                <a:solidFill>
                  <a:srgbClr val="3987E5"/>
                </a:solidFill>
                <a:latin typeface="Arial" pitchFamily="34" charset="0"/>
                <a:ea typeface="Arial" pitchFamily="34" charset="-122"/>
                <a:cs typeface="Arial" pitchFamily="34" charset="-120"/>
              </a:rPr>
              <a:t>entry</a:t>
            </a:r>
            <a:endParaRPr lang="en-US" sz="1300" dirty="0"/>
          </a:p>
        </p:txBody>
      </p:sp>
      <p:sp>
        <p:nvSpPr>
          <p:cNvPr id="40" name="Text 38"/>
          <p:cNvSpPr/>
          <p:nvPr/>
        </p:nvSpPr>
        <p:spPr>
          <a:xfrm>
            <a:off x="8869680" y="5010912"/>
            <a:ext cx="2468880" cy="365760"/>
          </a:xfrm>
          <a:prstGeom prst="rect">
            <a:avLst/>
          </a:prstGeom>
          <a:noFill/>
          <a:ln/>
        </p:spPr>
        <p:txBody>
          <a:bodyPr wrap="square" lIns="0" tIns="0" rIns="0" bIns="0" rtlCol="0" anchor="ctr"/>
          <a:lstStyle/>
          <a:p>
            <a:pPr indent="0" marL="0">
              <a:buNone/>
            </a:pPr>
            <a:r>
              <a:rPr lang="en-US" sz="1300" dirty="0">
                <a:solidFill>
                  <a:srgbClr val="C7C6BB"/>
                </a:solidFill>
                <a:latin typeface="Arial" pitchFamily="34" charset="0"/>
                <a:ea typeface="Arial" pitchFamily="34" charset="-122"/>
                <a:cs typeface="Arial" pitchFamily="34" charset="-120"/>
              </a:rPr>
              <a:t>after it stabilizes</a:t>
            </a:r>
            <a:endParaRPr lang="en-US" sz="1300" dirty="0"/>
          </a:p>
        </p:txBody>
      </p:sp>
      <p:sp>
        <p:nvSpPr>
          <p:cNvPr id="41" name="Text 39"/>
          <p:cNvSpPr/>
          <p:nvPr/>
        </p:nvSpPr>
        <p:spPr>
          <a:xfrm>
            <a:off x="7863840" y="5413248"/>
            <a:ext cx="1051560" cy="365760"/>
          </a:xfrm>
          <a:prstGeom prst="rect">
            <a:avLst/>
          </a:prstGeom>
          <a:noFill/>
          <a:ln/>
        </p:spPr>
        <p:txBody>
          <a:bodyPr wrap="square" lIns="0" tIns="0" rIns="0" bIns="0" rtlCol="0" anchor="ctr"/>
          <a:lstStyle/>
          <a:p>
            <a:pPr indent="0" marL="0">
              <a:buNone/>
            </a:pPr>
            <a:r>
              <a:rPr lang="en-US" sz="1300" b="1" dirty="0">
                <a:solidFill>
                  <a:srgbClr val="3987E5"/>
                </a:solidFill>
                <a:latin typeface="Arial" pitchFamily="34" charset="0"/>
                <a:ea typeface="Arial" pitchFamily="34" charset="-122"/>
                <a:cs typeface="Arial" pitchFamily="34" charset="-120"/>
              </a:rPr>
              <a:t>hold</a:t>
            </a:r>
            <a:endParaRPr lang="en-US" sz="1300" dirty="0"/>
          </a:p>
        </p:txBody>
      </p:sp>
      <p:sp>
        <p:nvSpPr>
          <p:cNvPr id="42" name="Text 40"/>
          <p:cNvSpPr/>
          <p:nvPr/>
        </p:nvSpPr>
        <p:spPr>
          <a:xfrm>
            <a:off x="8869680" y="5413248"/>
            <a:ext cx="2468880" cy="365760"/>
          </a:xfrm>
          <a:prstGeom prst="rect">
            <a:avLst/>
          </a:prstGeom>
          <a:noFill/>
          <a:ln/>
        </p:spPr>
        <p:txBody>
          <a:bodyPr wrap="square" lIns="0" tIns="0" rIns="0" bIns="0" rtlCol="0" anchor="ctr"/>
          <a:lstStyle/>
          <a:p>
            <a:pPr indent="0" marL="0">
              <a:buNone/>
            </a:pPr>
            <a:r>
              <a:rPr lang="en-US" sz="1300" dirty="0">
                <a:solidFill>
                  <a:srgbClr val="C7C6BB"/>
                </a:solidFill>
                <a:latin typeface="Arial" pitchFamily="34" charset="0"/>
                <a:ea typeface="Arial" pitchFamily="34" charset="-122"/>
                <a:cs typeface="Arial" pitchFamily="34" charset="-120"/>
              </a:rPr>
              <a:t>240 seconds</a:t>
            </a:r>
            <a:endParaRPr lang="en-US" sz="1300" dirty="0"/>
          </a:p>
        </p:txBody>
      </p:sp>
      <p:sp>
        <p:nvSpPr>
          <p:cNvPr id="43" name="Text 41"/>
          <p:cNvSpPr/>
          <p:nvPr/>
        </p:nvSpPr>
        <p:spPr>
          <a:xfrm>
            <a:off x="7863840" y="5815584"/>
            <a:ext cx="1051560" cy="365760"/>
          </a:xfrm>
          <a:prstGeom prst="rect">
            <a:avLst/>
          </a:prstGeom>
          <a:noFill/>
          <a:ln/>
        </p:spPr>
        <p:txBody>
          <a:bodyPr wrap="square" lIns="0" tIns="0" rIns="0" bIns="0" rtlCol="0" anchor="ctr"/>
          <a:lstStyle/>
          <a:p>
            <a:pPr indent="0" marL="0">
              <a:buNone/>
            </a:pPr>
            <a:r>
              <a:rPr lang="en-US" sz="1300" b="1" dirty="0">
                <a:solidFill>
                  <a:srgbClr val="3987E5"/>
                </a:solidFill>
                <a:latin typeface="Arial" pitchFamily="34" charset="0"/>
                <a:ea typeface="Arial" pitchFamily="34" charset="-122"/>
                <a:cs typeface="Arial" pitchFamily="34" charset="-120"/>
              </a:rPr>
              <a:t>stop</a:t>
            </a:r>
            <a:endParaRPr lang="en-US" sz="1300" dirty="0"/>
          </a:p>
        </p:txBody>
      </p:sp>
      <p:sp>
        <p:nvSpPr>
          <p:cNvPr id="44" name="Text 42"/>
          <p:cNvSpPr/>
          <p:nvPr/>
        </p:nvSpPr>
        <p:spPr>
          <a:xfrm>
            <a:off x="8869680" y="5815584"/>
            <a:ext cx="2468880" cy="365760"/>
          </a:xfrm>
          <a:prstGeom prst="rect">
            <a:avLst/>
          </a:prstGeom>
          <a:noFill/>
          <a:ln/>
        </p:spPr>
        <p:txBody>
          <a:bodyPr wrap="square" lIns="0" tIns="0" rIns="0" bIns="0" rtlCol="0" anchor="ctr"/>
          <a:lstStyle/>
          <a:p>
            <a:pPr indent="0" marL="0">
              <a:buNone/>
            </a:pPr>
            <a:r>
              <a:rPr lang="en-US" sz="1300" dirty="0">
                <a:solidFill>
                  <a:srgbClr val="C7C6BB"/>
                </a:solidFill>
                <a:latin typeface="Arial" pitchFamily="34" charset="0"/>
                <a:ea typeface="Arial" pitchFamily="34" charset="-122"/>
                <a:cs typeface="Arial" pitchFamily="34" charset="-120"/>
              </a:rPr>
              <a:t>cut comebacks at 7 pts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40080" y="438912"/>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Not a dashboard. A game.</a:t>
            </a:r>
            <a:endParaRPr lang="en-US" sz="3200" dirty="0"/>
          </a:p>
        </p:txBody>
      </p:sp>
      <p:sp>
        <p:nvSpPr>
          <p:cNvPr id="3" name="Text 1"/>
          <p:cNvSpPr/>
          <p:nvPr/>
        </p:nvSpPr>
        <p:spPr>
          <a:xfrm>
            <a:off x="658368" y="1097280"/>
            <a:ext cx="10972800" cy="384048"/>
          </a:xfrm>
          <a:prstGeom prst="rect">
            <a:avLst/>
          </a:prstGeom>
          <a:noFill/>
          <a:ln/>
        </p:spPr>
        <p:txBody>
          <a:bodyPr wrap="square" lIns="0" tIns="0" rIns="0" bIns="0" rtlCol="0" anchor="ctr"/>
          <a:lstStyle/>
          <a:p>
            <a:pPr indent="0" marL="0">
              <a:buNone/>
            </a:pPr>
            <a:r>
              <a:rPr lang="en-US" sz="1500" dirty="0">
                <a:solidFill>
                  <a:srgbClr val="8C8C84"/>
                </a:solidFill>
                <a:latin typeface="Arial" pitchFamily="34" charset="0"/>
                <a:ea typeface="Arial" pitchFamily="34" charset="-122"/>
                <a:cs typeface="Arial" pitchFamily="34" charset="-120"/>
              </a:rPr>
              <a:t>The relatable layer — no wallet required.</a:t>
            </a:r>
            <a:endParaRPr lang="en-US" sz="1500" dirty="0"/>
          </a:p>
        </p:txBody>
      </p:sp>
      <p:sp>
        <p:nvSpPr>
          <p:cNvPr id="4" name="Shape 2"/>
          <p:cNvSpPr/>
          <p:nvPr/>
        </p:nvSpPr>
        <p:spPr>
          <a:xfrm>
            <a:off x="603504" y="1920240"/>
            <a:ext cx="3401568" cy="3246120"/>
          </a:xfrm>
          <a:prstGeom prst="roundRect">
            <a:avLst>
              <a:gd name="adj" fmla="val 2817"/>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5" name="Shape 3"/>
          <p:cNvSpPr/>
          <p:nvPr/>
        </p:nvSpPr>
        <p:spPr>
          <a:xfrm>
            <a:off x="923544" y="2286000"/>
            <a:ext cx="640080" cy="640080"/>
          </a:xfrm>
          <a:prstGeom prst="roundRect">
            <a:avLst>
              <a:gd name="adj" fmla="val 50000"/>
            </a:avLst>
          </a:prstGeom>
          <a:solidFill>
            <a:srgbClr val="212120"/>
          </a:solidFill>
          <a:ln w="25400">
            <a:solidFill>
              <a:srgbClr val="3987E5"/>
            </a:solidFill>
            <a:prstDash val="solid"/>
          </a:ln>
        </p:spPr>
      </p:sp>
      <p:sp>
        <p:nvSpPr>
          <p:cNvPr id="6" name="Text 4"/>
          <p:cNvSpPr/>
          <p:nvPr/>
        </p:nvSpPr>
        <p:spPr>
          <a:xfrm>
            <a:off x="923544" y="2286000"/>
            <a:ext cx="640080" cy="640080"/>
          </a:xfrm>
          <a:prstGeom prst="rect">
            <a:avLst/>
          </a:prstGeom>
          <a:noFill/>
          <a:ln/>
        </p:spPr>
        <p:txBody>
          <a:bodyPr wrap="square" lIns="0" tIns="0" rIns="0" bIns="0" rtlCol="0" anchor="ctr"/>
          <a:lstStyle/>
          <a:p>
            <a:pPr algn="ctr" indent="0" marL="0">
              <a:buNone/>
            </a:pPr>
            <a:r>
              <a:rPr lang="en-US" sz="2400" b="1" dirty="0">
                <a:solidFill>
                  <a:srgbClr val="3987E5"/>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923544" y="3154680"/>
            <a:ext cx="276148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Swipe the panic</a:t>
            </a:r>
            <a:endParaRPr lang="en-US" sz="1800" dirty="0"/>
          </a:p>
        </p:txBody>
      </p:sp>
      <p:sp>
        <p:nvSpPr>
          <p:cNvPr id="8" name="Text 6"/>
          <p:cNvSpPr/>
          <p:nvPr/>
        </p:nvSpPr>
        <p:spPr>
          <a:xfrm>
            <a:off x="923544" y="3703320"/>
            <a:ext cx="2761488" cy="1280160"/>
          </a:xfrm>
          <a:prstGeom prst="rect">
            <a:avLst/>
          </a:prstGeom>
          <a:noFill/>
          <a:ln/>
        </p:spPr>
        <p:txBody>
          <a:bodyPr wrap="square" lIns="0" tIns="0" rIns="0" bIns="0" rtlCol="0" anchor="ctr"/>
          <a:lstStyle/>
          <a:p>
            <a:pPr indent="0" marL="0">
              <a:buNone/>
            </a:pPr>
            <a:r>
              <a:rPr lang="en-US" sz="1350" dirty="0">
                <a:solidFill>
                  <a:srgbClr val="C7C6BB"/>
                </a:solidFill>
                <a:latin typeface="Arial" pitchFamily="34" charset="0"/>
                <a:ea typeface="Arial" pitchFamily="34" charset="-122"/>
                <a:cs typeface="Arial" pitchFamily="34" charset="-120"/>
              </a:rPr>
              <a:t>Every signal is a card: swipe to Ride the wave or Fade with the bot. You vs the bot, scored live.</a:t>
            </a:r>
            <a:endParaRPr lang="en-US" sz="1350" dirty="0"/>
          </a:p>
        </p:txBody>
      </p:sp>
      <p:sp>
        <p:nvSpPr>
          <p:cNvPr id="9" name="Shape 7"/>
          <p:cNvSpPr/>
          <p:nvPr/>
        </p:nvSpPr>
        <p:spPr>
          <a:xfrm>
            <a:off x="4389120" y="1920240"/>
            <a:ext cx="3401568" cy="3246120"/>
          </a:xfrm>
          <a:prstGeom prst="roundRect">
            <a:avLst>
              <a:gd name="adj" fmla="val 2817"/>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10" name="Shape 8"/>
          <p:cNvSpPr/>
          <p:nvPr/>
        </p:nvSpPr>
        <p:spPr>
          <a:xfrm>
            <a:off x="4709160" y="2286000"/>
            <a:ext cx="640080" cy="640080"/>
          </a:xfrm>
          <a:prstGeom prst="roundRect">
            <a:avLst>
              <a:gd name="adj" fmla="val 50000"/>
            </a:avLst>
          </a:prstGeom>
          <a:solidFill>
            <a:srgbClr val="212120"/>
          </a:solidFill>
          <a:ln w="25400">
            <a:solidFill>
              <a:srgbClr val="E24B41"/>
            </a:solidFill>
            <a:prstDash val="solid"/>
          </a:ln>
        </p:spPr>
      </p:sp>
      <p:sp>
        <p:nvSpPr>
          <p:cNvPr id="11" name="Text 9"/>
          <p:cNvSpPr/>
          <p:nvPr/>
        </p:nvSpPr>
        <p:spPr>
          <a:xfrm>
            <a:off x="4709160" y="2286000"/>
            <a:ext cx="640080" cy="640080"/>
          </a:xfrm>
          <a:prstGeom prst="rect">
            <a:avLst/>
          </a:prstGeom>
          <a:noFill/>
          <a:ln/>
        </p:spPr>
        <p:txBody>
          <a:bodyPr wrap="square" lIns="0" tIns="0" rIns="0" bIns="0" rtlCol="0" anchor="ctr"/>
          <a:lstStyle/>
          <a:p>
            <a:pPr algn="ctr" indent="0" marL="0">
              <a:buNone/>
            </a:pPr>
            <a:r>
              <a:rPr lang="en-US" sz="2400" b="1" dirty="0">
                <a:solidFill>
                  <a:srgbClr val="E24B41"/>
                </a:solidFill>
                <a:latin typeface="Arial" pitchFamily="34" charset="0"/>
                <a:ea typeface="Arial" pitchFamily="34" charset="-122"/>
                <a:cs typeface="Arial" pitchFamily="34" charset="-120"/>
              </a:rPr>
              <a:t>2</a:t>
            </a:r>
            <a:endParaRPr lang="en-US" sz="2400" dirty="0"/>
          </a:p>
        </p:txBody>
      </p:sp>
      <p:sp>
        <p:nvSpPr>
          <p:cNvPr id="12" name="Text 10"/>
          <p:cNvSpPr/>
          <p:nvPr/>
        </p:nvSpPr>
        <p:spPr>
          <a:xfrm>
            <a:off x="4709160" y="3154680"/>
            <a:ext cx="276148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Fade your timeline</a:t>
            </a:r>
            <a:endParaRPr lang="en-US" sz="1800" dirty="0"/>
          </a:p>
        </p:txBody>
      </p:sp>
      <p:sp>
        <p:nvSpPr>
          <p:cNvPr id="13" name="Text 11"/>
          <p:cNvSpPr/>
          <p:nvPr/>
        </p:nvSpPr>
        <p:spPr>
          <a:xfrm>
            <a:off x="4709160" y="3703320"/>
            <a:ext cx="2761488" cy="1280160"/>
          </a:xfrm>
          <a:prstGeom prst="rect">
            <a:avLst/>
          </a:prstGeom>
          <a:noFill/>
          <a:ln/>
        </p:spPr>
        <p:txBody>
          <a:bodyPr wrap="square" lIns="0" tIns="0" rIns="0" bIns="0" rtlCol="0" anchor="ctr"/>
          <a:lstStyle/>
          <a:p>
            <a:pPr indent="0" marL="0">
              <a:buNone/>
            </a:pPr>
            <a:r>
              <a:rPr lang="en-US" sz="1350" dirty="0">
                <a:solidFill>
                  <a:srgbClr val="C7C6BB"/>
                </a:solidFill>
                <a:latin typeface="Arial" pitchFamily="34" charset="0"/>
                <a:ea typeface="Arial" pitchFamily="34" charset="-122"/>
                <a:cs typeface="Arial" pitchFamily="34" charset="-120"/>
              </a:rPr>
              <a:t>Hot takes from accounts you follow get scored against the outcome — a “Most Fadeable” leaderboard.</a:t>
            </a:r>
            <a:endParaRPr lang="en-US" sz="1350" dirty="0"/>
          </a:p>
        </p:txBody>
      </p:sp>
      <p:sp>
        <p:nvSpPr>
          <p:cNvPr id="14" name="Shape 12"/>
          <p:cNvSpPr/>
          <p:nvPr/>
        </p:nvSpPr>
        <p:spPr>
          <a:xfrm>
            <a:off x="8174736" y="1920240"/>
            <a:ext cx="3401568" cy="3246120"/>
          </a:xfrm>
          <a:prstGeom prst="roundRect">
            <a:avLst>
              <a:gd name="adj" fmla="val 2817"/>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15" name="Shape 13"/>
          <p:cNvSpPr/>
          <p:nvPr/>
        </p:nvSpPr>
        <p:spPr>
          <a:xfrm>
            <a:off x="8494776" y="2286000"/>
            <a:ext cx="640080" cy="640080"/>
          </a:xfrm>
          <a:prstGeom prst="roundRect">
            <a:avLst>
              <a:gd name="adj" fmla="val 50000"/>
            </a:avLst>
          </a:prstGeom>
          <a:solidFill>
            <a:srgbClr val="212120"/>
          </a:solidFill>
          <a:ln w="25400">
            <a:solidFill>
              <a:srgbClr val="21B521"/>
            </a:solidFill>
            <a:prstDash val="solid"/>
          </a:ln>
        </p:spPr>
      </p:sp>
      <p:sp>
        <p:nvSpPr>
          <p:cNvPr id="16" name="Text 14"/>
          <p:cNvSpPr/>
          <p:nvPr/>
        </p:nvSpPr>
        <p:spPr>
          <a:xfrm>
            <a:off x="8494776" y="2286000"/>
            <a:ext cx="640080" cy="640080"/>
          </a:xfrm>
          <a:prstGeom prst="rect">
            <a:avLst/>
          </a:prstGeom>
          <a:noFill/>
          <a:ln/>
        </p:spPr>
        <p:txBody>
          <a:bodyPr wrap="square" lIns="0" tIns="0" rIns="0" bIns="0" rtlCol="0" anchor="ctr"/>
          <a:lstStyle/>
          <a:p>
            <a:pPr algn="ctr" indent="0" marL="0">
              <a:buNone/>
            </a:pPr>
            <a:r>
              <a:rPr lang="en-US" sz="2400" b="1" dirty="0">
                <a:solidFill>
                  <a:srgbClr val="21B521"/>
                </a:solidFill>
                <a:latin typeface="Arial" pitchFamily="34" charset="0"/>
                <a:ea typeface="Arial" pitchFamily="34" charset="-122"/>
                <a:cs typeface="Arial" pitchFamily="34" charset="-120"/>
              </a:rPr>
              <a:t>3</a:t>
            </a:r>
            <a:endParaRPr lang="en-US" sz="2400" dirty="0"/>
          </a:p>
        </p:txBody>
      </p:sp>
      <p:sp>
        <p:nvSpPr>
          <p:cNvPr id="17" name="Text 15"/>
          <p:cNvSpPr/>
          <p:nvPr/>
        </p:nvSpPr>
        <p:spPr>
          <a:xfrm>
            <a:off x="8494776" y="3154680"/>
            <a:ext cx="276148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Quick bet</a:t>
            </a:r>
            <a:endParaRPr lang="en-US" sz="1800" dirty="0"/>
          </a:p>
        </p:txBody>
      </p:sp>
      <p:sp>
        <p:nvSpPr>
          <p:cNvPr id="18" name="Text 16"/>
          <p:cNvSpPr/>
          <p:nvPr/>
        </p:nvSpPr>
        <p:spPr>
          <a:xfrm>
            <a:off x="8494776" y="3703320"/>
            <a:ext cx="2761488" cy="1280160"/>
          </a:xfrm>
          <a:prstGeom prst="rect">
            <a:avLst/>
          </a:prstGeom>
          <a:noFill/>
          <a:ln/>
        </p:spPr>
        <p:txBody>
          <a:bodyPr wrap="square" lIns="0" tIns="0" rIns="0" bIns="0" rtlCol="0" anchor="ctr"/>
          <a:lstStyle/>
          <a:p>
            <a:pPr indent="0" marL="0">
              <a:buNone/>
            </a:pPr>
            <a:r>
              <a:rPr lang="en-US" sz="1350" dirty="0">
                <a:solidFill>
                  <a:srgbClr val="C7C6BB"/>
                </a:solidFill>
                <a:latin typeface="Arial" pitchFamily="34" charset="0"/>
                <a:ea typeface="Arial" pitchFamily="34" charset="-122"/>
                <a:cs typeface="Arial" pitchFamily="34" charset="-120"/>
              </a:rPr>
              <a:t>A virtual bankroll on live prices. Zero onboarding, zero risk — just play against the market.</a:t>
            </a:r>
            <a:endParaRPr lang="en-US" sz="1350" dirty="0"/>
          </a:p>
        </p:txBody>
      </p:sp>
      <p:sp>
        <p:nvSpPr>
          <p:cNvPr id="19" name="Text 17"/>
          <p:cNvSpPr/>
          <p:nvPr/>
        </p:nvSpPr>
        <p:spPr>
          <a:xfrm>
            <a:off x="640080" y="5623560"/>
            <a:ext cx="10972800" cy="457200"/>
          </a:xfrm>
          <a:prstGeom prst="rect">
            <a:avLst/>
          </a:prstGeom>
          <a:noFill/>
          <a:ln/>
        </p:spPr>
        <p:txBody>
          <a:bodyPr wrap="square" lIns="0" tIns="0" rIns="0" bIns="0" rtlCol="0" anchor="ctr"/>
          <a:lstStyle/>
          <a:p>
            <a:pPr algn="ctr" indent="0" marL="0">
              <a:buNone/>
            </a:pPr>
            <a:r>
              <a:rPr lang="en-US" sz="1400" i="1" dirty="0">
                <a:solidFill>
                  <a:srgbClr val="8C8C84"/>
                </a:solidFill>
                <a:latin typeface="Arial" pitchFamily="34" charset="0"/>
                <a:ea typeface="Arial" pitchFamily="34" charset="-122"/>
                <a:cs typeface="Arial" pitchFamily="34" charset="-120"/>
              </a:rPr>
              <a:t>Spectators become players in one gesture — the shareable, viral surface on top of a real trading engine.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640080" y="438912"/>
            <a:ext cx="10972800" cy="65836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Built to ship, built to scale</a:t>
            </a:r>
            <a:endParaRPr lang="en-US" sz="3200" dirty="0"/>
          </a:p>
        </p:txBody>
      </p:sp>
      <p:sp>
        <p:nvSpPr>
          <p:cNvPr id="3" name="Shape 1"/>
          <p:cNvSpPr/>
          <p:nvPr/>
        </p:nvSpPr>
        <p:spPr>
          <a:xfrm>
            <a:off x="640080" y="1874520"/>
            <a:ext cx="5349240" cy="1874520"/>
          </a:xfrm>
          <a:prstGeom prst="roundRect">
            <a:avLst>
              <a:gd name="adj" fmla="val 4878"/>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4" name="Shape 2"/>
          <p:cNvSpPr/>
          <p:nvPr/>
        </p:nvSpPr>
        <p:spPr>
          <a:xfrm>
            <a:off x="932688" y="2167128"/>
            <a:ext cx="128016" cy="603504"/>
          </a:xfrm>
          <a:prstGeom prst="roundRect">
            <a:avLst>
              <a:gd name="adj" fmla="val 50000"/>
            </a:avLst>
          </a:prstGeom>
          <a:solidFill>
            <a:srgbClr val="3987E5"/>
          </a:solidFill>
          <a:ln/>
        </p:spPr>
      </p:sp>
      <p:sp>
        <p:nvSpPr>
          <p:cNvPr id="5" name="Text 3"/>
          <p:cNvSpPr/>
          <p:nvPr/>
        </p:nvSpPr>
        <p:spPr>
          <a:xfrm>
            <a:off x="1207008" y="2148840"/>
            <a:ext cx="452628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Data ingestion</a:t>
            </a:r>
            <a:endParaRPr lang="en-US" sz="1800" dirty="0"/>
          </a:p>
        </p:txBody>
      </p:sp>
      <p:sp>
        <p:nvSpPr>
          <p:cNvPr id="6" name="Text 4"/>
          <p:cNvSpPr/>
          <p:nvPr/>
        </p:nvSpPr>
        <p:spPr>
          <a:xfrm>
            <a:off x="1207008" y="2624328"/>
            <a:ext cx="4480560" cy="960120"/>
          </a:xfrm>
          <a:prstGeom prst="rect">
            <a:avLst/>
          </a:prstGeom>
          <a:noFill/>
          <a:ln/>
        </p:spPr>
        <p:txBody>
          <a:bodyPr wrap="square" lIns="0" tIns="0" rIns="0" bIns="0" rtlCol="0" anchor="ctr"/>
          <a:lstStyle/>
          <a:p>
            <a:pPr indent="0" marL="0">
              <a:buNone/>
            </a:pPr>
            <a:r>
              <a:rPr lang="en-US" sz="1350" dirty="0">
                <a:solidFill>
                  <a:srgbClr val="C7C6BB"/>
                </a:solidFill>
                <a:latin typeface="Arial" pitchFamily="34" charset="0"/>
                <a:ea typeface="Arial" pitchFamily="34" charset="-122"/>
                <a:cs typeface="Arial" pitchFamily="34" charset="-120"/>
              </a:rPr>
              <a:t>Live TxLINE odds + score SSE, de-vigged to implied probability, anchored by validation proofs.</a:t>
            </a:r>
            <a:endParaRPr lang="en-US" sz="1350" dirty="0"/>
          </a:p>
        </p:txBody>
      </p:sp>
      <p:sp>
        <p:nvSpPr>
          <p:cNvPr id="7" name="Shape 5"/>
          <p:cNvSpPr/>
          <p:nvPr/>
        </p:nvSpPr>
        <p:spPr>
          <a:xfrm>
            <a:off x="6263640" y="1874520"/>
            <a:ext cx="5349240" cy="1874520"/>
          </a:xfrm>
          <a:prstGeom prst="roundRect">
            <a:avLst>
              <a:gd name="adj" fmla="val 4878"/>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8" name="Shape 6"/>
          <p:cNvSpPr/>
          <p:nvPr/>
        </p:nvSpPr>
        <p:spPr>
          <a:xfrm>
            <a:off x="6556248" y="2167128"/>
            <a:ext cx="128016" cy="603504"/>
          </a:xfrm>
          <a:prstGeom prst="roundRect">
            <a:avLst>
              <a:gd name="adj" fmla="val 50000"/>
            </a:avLst>
          </a:prstGeom>
          <a:solidFill>
            <a:srgbClr val="21B521"/>
          </a:solidFill>
          <a:ln/>
        </p:spPr>
      </p:sp>
      <p:sp>
        <p:nvSpPr>
          <p:cNvPr id="9" name="Text 7"/>
          <p:cNvSpPr/>
          <p:nvPr/>
        </p:nvSpPr>
        <p:spPr>
          <a:xfrm>
            <a:off x="6830568" y="2148840"/>
            <a:ext cx="452628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Autonomous &amp; reliable</a:t>
            </a:r>
            <a:endParaRPr lang="en-US" sz="1800" dirty="0"/>
          </a:p>
        </p:txBody>
      </p:sp>
      <p:sp>
        <p:nvSpPr>
          <p:cNvPr id="10" name="Text 8"/>
          <p:cNvSpPr/>
          <p:nvPr/>
        </p:nvSpPr>
        <p:spPr>
          <a:xfrm>
            <a:off x="6830568" y="2624328"/>
            <a:ext cx="4480560" cy="960120"/>
          </a:xfrm>
          <a:prstGeom prst="rect">
            <a:avLst/>
          </a:prstGeom>
          <a:noFill/>
          <a:ln/>
        </p:spPr>
        <p:txBody>
          <a:bodyPr wrap="square" lIns="0" tIns="0" rIns="0" bIns="0" rtlCol="0" anchor="ctr"/>
          <a:lstStyle/>
          <a:p>
            <a:pPr indent="0" marL="0">
              <a:buNone/>
            </a:pPr>
            <a:r>
              <a:rPr lang="en-US" sz="1350" dirty="0">
                <a:solidFill>
                  <a:srgbClr val="C7C6BB"/>
                </a:solidFill>
                <a:latin typeface="Arial" pitchFamily="34" charset="0"/>
                <a:ea typeface="Arial" pitchFamily="34" charset="-122"/>
                <a:cs typeface="Arial" pitchFamily="34" charset="-120"/>
              </a:rPr>
              <a:t>Settles with no human in the loop; degrades gracefully when the faucet or API stalls.</a:t>
            </a:r>
            <a:endParaRPr lang="en-US" sz="1350" dirty="0"/>
          </a:p>
        </p:txBody>
      </p:sp>
      <p:sp>
        <p:nvSpPr>
          <p:cNvPr id="11" name="Shape 9"/>
          <p:cNvSpPr/>
          <p:nvPr/>
        </p:nvSpPr>
        <p:spPr>
          <a:xfrm>
            <a:off x="640080" y="4023360"/>
            <a:ext cx="5349240" cy="1874520"/>
          </a:xfrm>
          <a:prstGeom prst="roundRect">
            <a:avLst>
              <a:gd name="adj" fmla="val 4878"/>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12" name="Shape 10"/>
          <p:cNvSpPr/>
          <p:nvPr/>
        </p:nvSpPr>
        <p:spPr>
          <a:xfrm>
            <a:off x="932688" y="4315968"/>
            <a:ext cx="128016" cy="603504"/>
          </a:xfrm>
          <a:prstGeom prst="roundRect">
            <a:avLst>
              <a:gd name="adj" fmla="val 50000"/>
            </a:avLst>
          </a:prstGeom>
          <a:solidFill>
            <a:srgbClr val="FAB219"/>
          </a:solidFill>
          <a:ln/>
        </p:spPr>
      </p:sp>
      <p:sp>
        <p:nvSpPr>
          <p:cNvPr id="13" name="Text 11"/>
          <p:cNvSpPr/>
          <p:nvPr/>
        </p:nvSpPr>
        <p:spPr>
          <a:xfrm>
            <a:off x="1207008" y="4297680"/>
            <a:ext cx="452628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Logic &amp; architecture</a:t>
            </a:r>
            <a:endParaRPr lang="en-US" sz="1800" dirty="0"/>
          </a:p>
        </p:txBody>
      </p:sp>
      <p:sp>
        <p:nvSpPr>
          <p:cNvPr id="14" name="Text 12"/>
          <p:cNvSpPr/>
          <p:nvPr/>
        </p:nvSpPr>
        <p:spPr>
          <a:xfrm>
            <a:off x="1207008" y="4773168"/>
            <a:ext cx="4480560" cy="960120"/>
          </a:xfrm>
          <a:prstGeom prst="rect">
            <a:avLst/>
          </a:prstGeom>
          <a:noFill/>
          <a:ln/>
        </p:spPr>
        <p:txBody>
          <a:bodyPr wrap="square" lIns="0" tIns="0" rIns="0" bIns="0" rtlCol="0" anchor="ctr"/>
          <a:lstStyle/>
          <a:p>
            <a:pPr indent="0" marL="0">
              <a:buNone/>
            </a:pPr>
            <a:r>
              <a:rPr lang="en-US" sz="1350" dirty="0">
                <a:solidFill>
                  <a:srgbClr val="C7C6BB"/>
                </a:solidFill>
                <a:latin typeface="Arial" pitchFamily="34" charset="0"/>
                <a:ea typeface="Arial" pitchFamily="34" charset="-122"/>
                <a:cs typeface="Arial" pitchFamily="34" charset="-120"/>
              </a:rPr>
              <a:t>Market-agnostic core, bounded memory. Any probability series plugs in via one JSONL adapter.</a:t>
            </a:r>
            <a:endParaRPr lang="en-US" sz="1350" dirty="0"/>
          </a:p>
        </p:txBody>
      </p:sp>
      <p:sp>
        <p:nvSpPr>
          <p:cNvPr id="15" name="Shape 13"/>
          <p:cNvSpPr/>
          <p:nvPr/>
        </p:nvSpPr>
        <p:spPr>
          <a:xfrm>
            <a:off x="6263640" y="4023360"/>
            <a:ext cx="5349240" cy="1874520"/>
          </a:xfrm>
          <a:prstGeom prst="roundRect">
            <a:avLst>
              <a:gd name="adj" fmla="val 4878"/>
            </a:avLst>
          </a:prstGeom>
          <a:solidFill>
            <a:srgbClr val="1A1A19"/>
          </a:solidFill>
          <a:ln w="12700">
            <a:solidFill>
              <a:srgbClr val="323230"/>
            </a:solidFill>
            <a:prstDash val="solid"/>
          </a:ln>
          <a:effectLst>
            <a:outerShdw sx="100000" sy="100000" kx="0" ky="0" algn="bl" rotWithShape="0" blurRad="127000" dist="38100" dir="5400000">
              <a:srgbClr val="000000">
                <a:alpha val="45000"/>
              </a:srgbClr>
            </a:outerShdw>
          </a:effectLst>
        </p:spPr>
      </p:sp>
      <p:sp>
        <p:nvSpPr>
          <p:cNvPr id="16" name="Shape 14"/>
          <p:cNvSpPr/>
          <p:nvPr/>
        </p:nvSpPr>
        <p:spPr>
          <a:xfrm>
            <a:off x="6556248" y="4315968"/>
            <a:ext cx="128016" cy="603504"/>
          </a:xfrm>
          <a:prstGeom prst="roundRect">
            <a:avLst>
              <a:gd name="adj" fmla="val 50000"/>
            </a:avLst>
          </a:prstGeom>
          <a:solidFill>
            <a:srgbClr val="E24B41"/>
          </a:solidFill>
          <a:ln/>
        </p:spPr>
      </p:sp>
      <p:sp>
        <p:nvSpPr>
          <p:cNvPr id="17" name="Text 15"/>
          <p:cNvSpPr/>
          <p:nvPr/>
        </p:nvSpPr>
        <p:spPr>
          <a:xfrm>
            <a:off x="6830568" y="4297680"/>
            <a:ext cx="452628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Production ready</a:t>
            </a:r>
            <a:endParaRPr lang="en-US" sz="1800" dirty="0"/>
          </a:p>
        </p:txBody>
      </p:sp>
      <p:sp>
        <p:nvSpPr>
          <p:cNvPr id="18" name="Text 16"/>
          <p:cNvSpPr/>
          <p:nvPr/>
        </p:nvSpPr>
        <p:spPr>
          <a:xfrm>
            <a:off x="6830568" y="4773168"/>
            <a:ext cx="4480560" cy="960120"/>
          </a:xfrm>
          <a:prstGeom prst="rect">
            <a:avLst/>
          </a:prstGeom>
          <a:noFill/>
          <a:ln/>
        </p:spPr>
        <p:txBody>
          <a:bodyPr wrap="square" lIns="0" tIns="0" rIns="0" bIns="0" rtlCol="0" anchor="ctr"/>
          <a:lstStyle/>
          <a:p>
            <a:pPr indent="0" marL="0">
              <a:buNone/>
            </a:pPr>
            <a:r>
              <a:rPr lang="en-US" sz="1350" dirty="0">
                <a:solidFill>
                  <a:srgbClr val="C7C6BB"/>
                </a:solidFill>
                <a:latin typeface="Arial" pitchFamily="34" charset="0"/>
                <a:ea typeface="Arial" pitchFamily="34" charset="-122"/>
                <a:cs typeface="Arial" pitchFamily="34" charset="-120"/>
              </a:rPr>
              <a:t>Live-deployed with a deterministic replay mode so judges see the full loop anytime.</a:t>
            </a:r>
            <a:endParaRPr lang="en-US" sz="1350" dirty="0"/>
          </a:p>
        </p:txBody>
      </p:sp>
      <p:sp>
        <p:nvSpPr>
          <p:cNvPr id="19" name="Text 17"/>
          <p:cNvSpPr/>
          <p:nvPr/>
        </p:nvSpPr>
        <p:spPr>
          <a:xfrm>
            <a:off x="640080" y="6080760"/>
            <a:ext cx="10972800" cy="457200"/>
          </a:xfrm>
          <a:prstGeom prst="rect">
            <a:avLst/>
          </a:prstGeom>
          <a:noFill/>
          <a:ln/>
        </p:spPr>
        <p:txBody>
          <a:bodyPr wrap="square" lIns="0" tIns="0" rIns="0" bIns="0" rtlCol="0" anchor="ctr"/>
          <a:lstStyle/>
          <a:p>
            <a:pPr algn="ctr" indent="0" marL="0">
              <a:buNone/>
            </a:pPr>
            <a:r>
              <a:rPr lang="en-US" sz="1300" b="1" dirty="0">
                <a:solidFill>
                  <a:srgbClr val="C7C6BB"/>
                </a:solidFill>
                <a:latin typeface="Arial" pitchFamily="34" charset="0"/>
                <a:ea typeface="Arial" pitchFamily="34" charset="-122"/>
                <a:cs typeface="Arial" pitchFamily="34" charset="-120"/>
              </a:rPr>
              <a:t>Scale:  </a:t>
            </a:r>
            <a:pPr algn="ctr" indent="0" marL="0">
              <a:buNone/>
            </a:pPr>
            <a:r>
              <a:rPr lang="en-US" sz="1300" dirty="0">
                <a:solidFill>
                  <a:srgbClr val="8C8C84"/>
                </a:solidFill>
                <a:latin typeface="Arial" pitchFamily="34" charset="0"/>
                <a:ea typeface="Arial" pitchFamily="34" charset="-122"/>
                <a:cs typeface="Arial" pitchFamily="34" charset="-120"/>
              </a:rPr>
              <a:t>one engine → many viewers over SSE  ·  TxLINE's 1000+ leagues are just more series keys  ·  commits batch under a Merkle root.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Shape 0"/>
          <p:cNvSpPr/>
          <p:nvPr/>
        </p:nvSpPr>
        <p:spPr>
          <a:xfrm flipV="1">
            <a:off x="0" y="5568696"/>
            <a:ext cx="731502" cy="23774"/>
          </a:xfrm>
          <a:prstGeom prst="line">
            <a:avLst/>
          </a:prstGeom>
          <a:noFill/>
          <a:ln w="25400">
            <a:solidFill>
              <a:srgbClr val="2A5A96"/>
            </a:solidFill>
            <a:prstDash val="solid"/>
          </a:ln>
        </p:spPr>
      </p:sp>
      <p:sp>
        <p:nvSpPr>
          <p:cNvPr id="3" name="Shape 1"/>
          <p:cNvSpPr/>
          <p:nvPr/>
        </p:nvSpPr>
        <p:spPr>
          <a:xfrm>
            <a:off x="731502" y="5568696"/>
            <a:ext cx="731502" cy="47549"/>
          </a:xfrm>
          <a:prstGeom prst="line">
            <a:avLst/>
          </a:prstGeom>
          <a:noFill/>
          <a:ln w="25400">
            <a:solidFill>
              <a:srgbClr val="2A5A96"/>
            </a:solidFill>
            <a:prstDash val="solid"/>
          </a:ln>
        </p:spPr>
      </p:sp>
      <p:sp>
        <p:nvSpPr>
          <p:cNvPr id="4" name="Shape 2"/>
          <p:cNvSpPr/>
          <p:nvPr/>
        </p:nvSpPr>
        <p:spPr>
          <a:xfrm flipV="1">
            <a:off x="1463003" y="5568696"/>
            <a:ext cx="731502" cy="47549"/>
          </a:xfrm>
          <a:prstGeom prst="line">
            <a:avLst/>
          </a:prstGeom>
          <a:noFill/>
          <a:ln w="25400">
            <a:solidFill>
              <a:srgbClr val="2A5A96"/>
            </a:solidFill>
            <a:prstDash val="solid"/>
          </a:ln>
        </p:spPr>
      </p:sp>
      <p:sp>
        <p:nvSpPr>
          <p:cNvPr id="5" name="Shape 3"/>
          <p:cNvSpPr/>
          <p:nvPr/>
        </p:nvSpPr>
        <p:spPr>
          <a:xfrm>
            <a:off x="2194505" y="5568696"/>
            <a:ext cx="731502" cy="47549"/>
          </a:xfrm>
          <a:prstGeom prst="line">
            <a:avLst/>
          </a:prstGeom>
          <a:noFill/>
          <a:ln w="25400">
            <a:solidFill>
              <a:srgbClr val="2A5A96"/>
            </a:solidFill>
            <a:prstDash val="solid"/>
          </a:ln>
        </p:spPr>
      </p:sp>
      <p:sp>
        <p:nvSpPr>
          <p:cNvPr id="6" name="Shape 4"/>
          <p:cNvSpPr/>
          <p:nvPr/>
        </p:nvSpPr>
        <p:spPr>
          <a:xfrm flipV="1">
            <a:off x="2926007" y="5568696"/>
            <a:ext cx="731502" cy="47549"/>
          </a:xfrm>
          <a:prstGeom prst="line">
            <a:avLst/>
          </a:prstGeom>
          <a:noFill/>
          <a:ln w="25400">
            <a:solidFill>
              <a:srgbClr val="2A5A96"/>
            </a:solidFill>
            <a:prstDash val="solid"/>
          </a:ln>
        </p:spPr>
      </p:sp>
      <p:sp>
        <p:nvSpPr>
          <p:cNvPr id="7" name="Shape 5"/>
          <p:cNvSpPr/>
          <p:nvPr/>
        </p:nvSpPr>
        <p:spPr>
          <a:xfrm>
            <a:off x="3657509" y="5568696"/>
            <a:ext cx="731502" cy="23774"/>
          </a:xfrm>
          <a:prstGeom prst="line">
            <a:avLst/>
          </a:prstGeom>
          <a:noFill/>
          <a:ln w="25400">
            <a:solidFill>
              <a:srgbClr val="2A5A96"/>
            </a:solidFill>
            <a:prstDash val="solid"/>
          </a:ln>
        </p:spPr>
      </p:sp>
      <p:sp>
        <p:nvSpPr>
          <p:cNvPr id="8" name="Shape 6"/>
          <p:cNvSpPr/>
          <p:nvPr/>
        </p:nvSpPr>
        <p:spPr>
          <a:xfrm flipV="1">
            <a:off x="4389010" y="5212080"/>
            <a:ext cx="487668" cy="380390"/>
          </a:xfrm>
          <a:prstGeom prst="line">
            <a:avLst/>
          </a:prstGeom>
          <a:noFill/>
          <a:ln w="25400">
            <a:solidFill>
              <a:srgbClr val="2A5A96"/>
            </a:solidFill>
            <a:prstDash val="solid"/>
          </a:ln>
        </p:spPr>
      </p:sp>
      <p:sp>
        <p:nvSpPr>
          <p:cNvPr id="9" name="Shape 7"/>
          <p:cNvSpPr/>
          <p:nvPr/>
        </p:nvSpPr>
        <p:spPr>
          <a:xfrm flipV="1">
            <a:off x="4876678" y="4641494"/>
            <a:ext cx="487668" cy="570586"/>
          </a:xfrm>
          <a:prstGeom prst="line">
            <a:avLst/>
          </a:prstGeom>
          <a:noFill/>
          <a:ln w="25400">
            <a:solidFill>
              <a:srgbClr val="2A5A96"/>
            </a:solidFill>
            <a:prstDash val="solid"/>
          </a:ln>
        </p:spPr>
      </p:sp>
      <p:sp>
        <p:nvSpPr>
          <p:cNvPr id="10" name="Shape 8"/>
          <p:cNvSpPr/>
          <p:nvPr/>
        </p:nvSpPr>
        <p:spPr>
          <a:xfrm flipV="1">
            <a:off x="5364346" y="4356202"/>
            <a:ext cx="365751" cy="285293"/>
          </a:xfrm>
          <a:prstGeom prst="line">
            <a:avLst/>
          </a:prstGeom>
          <a:noFill/>
          <a:ln w="25400">
            <a:solidFill>
              <a:srgbClr val="2A5A96"/>
            </a:solidFill>
            <a:prstDash val="solid"/>
          </a:ln>
        </p:spPr>
      </p:sp>
      <p:sp>
        <p:nvSpPr>
          <p:cNvPr id="11" name="Shape 9"/>
          <p:cNvSpPr/>
          <p:nvPr/>
        </p:nvSpPr>
        <p:spPr>
          <a:xfrm>
            <a:off x="5730097" y="4356202"/>
            <a:ext cx="487668" cy="71323"/>
          </a:xfrm>
          <a:prstGeom prst="line">
            <a:avLst/>
          </a:prstGeom>
          <a:noFill/>
          <a:ln w="25400">
            <a:solidFill>
              <a:srgbClr val="2A5A96"/>
            </a:solidFill>
            <a:prstDash val="solid"/>
          </a:ln>
        </p:spPr>
      </p:sp>
      <p:sp>
        <p:nvSpPr>
          <p:cNvPr id="12" name="Shape 10"/>
          <p:cNvSpPr/>
          <p:nvPr/>
        </p:nvSpPr>
        <p:spPr>
          <a:xfrm>
            <a:off x="6217765" y="4427525"/>
            <a:ext cx="609585" cy="166421"/>
          </a:xfrm>
          <a:prstGeom prst="line">
            <a:avLst/>
          </a:prstGeom>
          <a:noFill/>
          <a:ln w="25400">
            <a:solidFill>
              <a:srgbClr val="2A5A96"/>
            </a:solidFill>
            <a:prstDash val="solid"/>
          </a:ln>
        </p:spPr>
      </p:sp>
      <p:sp>
        <p:nvSpPr>
          <p:cNvPr id="13" name="Shape 11"/>
          <p:cNvSpPr/>
          <p:nvPr/>
        </p:nvSpPr>
        <p:spPr>
          <a:xfrm>
            <a:off x="6827349" y="4593946"/>
            <a:ext cx="731502" cy="142646"/>
          </a:xfrm>
          <a:prstGeom prst="line">
            <a:avLst/>
          </a:prstGeom>
          <a:noFill/>
          <a:ln w="25400">
            <a:solidFill>
              <a:srgbClr val="2A5A96"/>
            </a:solidFill>
            <a:prstDash val="solid"/>
          </a:ln>
        </p:spPr>
      </p:sp>
      <p:sp>
        <p:nvSpPr>
          <p:cNvPr id="14" name="Shape 12"/>
          <p:cNvSpPr/>
          <p:nvPr/>
        </p:nvSpPr>
        <p:spPr>
          <a:xfrm>
            <a:off x="7558851" y="4736592"/>
            <a:ext cx="975336" cy="118872"/>
          </a:xfrm>
          <a:prstGeom prst="line">
            <a:avLst/>
          </a:prstGeom>
          <a:noFill/>
          <a:ln w="25400">
            <a:solidFill>
              <a:srgbClr val="2A5A96"/>
            </a:solidFill>
            <a:prstDash val="solid"/>
          </a:ln>
        </p:spPr>
      </p:sp>
      <p:sp>
        <p:nvSpPr>
          <p:cNvPr id="15" name="Shape 13"/>
          <p:cNvSpPr/>
          <p:nvPr/>
        </p:nvSpPr>
        <p:spPr>
          <a:xfrm>
            <a:off x="8534187" y="4855464"/>
            <a:ext cx="1219170" cy="71323"/>
          </a:xfrm>
          <a:prstGeom prst="line">
            <a:avLst/>
          </a:prstGeom>
          <a:noFill/>
          <a:ln w="25400">
            <a:solidFill>
              <a:srgbClr val="2A5A96"/>
            </a:solidFill>
            <a:prstDash val="solid"/>
          </a:ln>
        </p:spPr>
      </p:sp>
      <p:sp>
        <p:nvSpPr>
          <p:cNvPr id="16" name="Shape 14"/>
          <p:cNvSpPr/>
          <p:nvPr/>
        </p:nvSpPr>
        <p:spPr>
          <a:xfrm>
            <a:off x="9753356" y="4926787"/>
            <a:ext cx="1219170" cy="11887"/>
          </a:xfrm>
          <a:prstGeom prst="line">
            <a:avLst/>
          </a:prstGeom>
          <a:noFill/>
          <a:ln w="25400">
            <a:solidFill>
              <a:srgbClr val="2A5A96"/>
            </a:solidFill>
            <a:prstDash val="solid"/>
          </a:ln>
        </p:spPr>
      </p:sp>
      <p:sp>
        <p:nvSpPr>
          <p:cNvPr id="17" name="Shape 15"/>
          <p:cNvSpPr/>
          <p:nvPr/>
        </p:nvSpPr>
        <p:spPr>
          <a:xfrm flipV="1">
            <a:off x="10972526" y="4926787"/>
            <a:ext cx="1219170" cy="11887"/>
          </a:xfrm>
          <a:prstGeom prst="line">
            <a:avLst/>
          </a:prstGeom>
          <a:noFill/>
          <a:ln w="25400">
            <a:solidFill>
              <a:srgbClr val="2A5A96"/>
            </a:solidFill>
            <a:prstDash val="solid"/>
          </a:ln>
        </p:spPr>
      </p:sp>
      <p:sp>
        <p:nvSpPr>
          <p:cNvPr id="18" name="Shape 16"/>
          <p:cNvSpPr/>
          <p:nvPr/>
        </p:nvSpPr>
        <p:spPr>
          <a:xfrm flipV="1">
            <a:off x="0" y="5568696"/>
            <a:ext cx="731502" cy="23774"/>
          </a:xfrm>
          <a:prstGeom prst="line">
            <a:avLst/>
          </a:prstGeom>
          <a:noFill/>
          <a:ln w="31750">
            <a:solidFill>
              <a:srgbClr val="3987E5"/>
            </a:solidFill>
            <a:prstDash val="solid"/>
          </a:ln>
        </p:spPr>
      </p:sp>
      <p:sp>
        <p:nvSpPr>
          <p:cNvPr id="19" name="Shape 17"/>
          <p:cNvSpPr/>
          <p:nvPr/>
        </p:nvSpPr>
        <p:spPr>
          <a:xfrm>
            <a:off x="731502" y="5568696"/>
            <a:ext cx="731502" cy="47549"/>
          </a:xfrm>
          <a:prstGeom prst="line">
            <a:avLst/>
          </a:prstGeom>
          <a:noFill/>
          <a:ln w="31750">
            <a:solidFill>
              <a:srgbClr val="3987E5"/>
            </a:solidFill>
            <a:prstDash val="solid"/>
          </a:ln>
        </p:spPr>
      </p:sp>
      <p:sp>
        <p:nvSpPr>
          <p:cNvPr id="20" name="Shape 18"/>
          <p:cNvSpPr/>
          <p:nvPr/>
        </p:nvSpPr>
        <p:spPr>
          <a:xfrm flipV="1">
            <a:off x="1463003" y="5568696"/>
            <a:ext cx="731502" cy="47549"/>
          </a:xfrm>
          <a:prstGeom prst="line">
            <a:avLst/>
          </a:prstGeom>
          <a:noFill/>
          <a:ln w="31750">
            <a:solidFill>
              <a:srgbClr val="3987E5"/>
            </a:solidFill>
            <a:prstDash val="solid"/>
          </a:ln>
        </p:spPr>
      </p:sp>
      <p:sp>
        <p:nvSpPr>
          <p:cNvPr id="21" name="Shape 19"/>
          <p:cNvSpPr/>
          <p:nvPr/>
        </p:nvSpPr>
        <p:spPr>
          <a:xfrm>
            <a:off x="2194505" y="5568696"/>
            <a:ext cx="731502" cy="47549"/>
          </a:xfrm>
          <a:prstGeom prst="line">
            <a:avLst/>
          </a:prstGeom>
          <a:noFill/>
          <a:ln w="31750">
            <a:solidFill>
              <a:srgbClr val="3987E5"/>
            </a:solidFill>
            <a:prstDash val="solid"/>
          </a:ln>
        </p:spPr>
      </p:sp>
      <p:sp>
        <p:nvSpPr>
          <p:cNvPr id="22" name="Shape 20"/>
          <p:cNvSpPr/>
          <p:nvPr/>
        </p:nvSpPr>
        <p:spPr>
          <a:xfrm flipV="1">
            <a:off x="2926007" y="5568696"/>
            <a:ext cx="731502" cy="47549"/>
          </a:xfrm>
          <a:prstGeom prst="line">
            <a:avLst/>
          </a:prstGeom>
          <a:noFill/>
          <a:ln w="31750">
            <a:solidFill>
              <a:srgbClr val="3987E5"/>
            </a:solidFill>
            <a:prstDash val="solid"/>
          </a:ln>
        </p:spPr>
      </p:sp>
      <p:sp>
        <p:nvSpPr>
          <p:cNvPr id="23" name="Shape 21"/>
          <p:cNvSpPr/>
          <p:nvPr/>
        </p:nvSpPr>
        <p:spPr>
          <a:xfrm>
            <a:off x="3657509" y="5568696"/>
            <a:ext cx="731502" cy="23774"/>
          </a:xfrm>
          <a:prstGeom prst="line">
            <a:avLst/>
          </a:prstGeom>
          <a:noFill/>
          <a:ln w="31750">
            <a:solidFill>
              <a:srgbClr val="3987E5"/>
            </a:solidFill>
            <a:prstDash val="solid"/>
          </a:ln>
        </p:spPr>
      </p:sp>
      <p:sp>
        <p:nvSpPr>
          <p:cNvPr id="24" name="Shape 22"/>
          <p:cNvSpPr/>
          <p:nvPr/>
        </p:nvSpPr>
        <p:spPr>
          <a:xfrm flipV="1">
            <a:off x="4389010" y="5212080"/>
            <a:ext cx="487668" cy="380390"/>
          </a:xfrm>
          <a:prstGeom prst="line">
            <a:avLst/>
          </a:prstGeom>
          <a:noFill/>
          <a:ln w="31750">
            <a:solidFill>
              <a:srgbClr val="3987E5"/>
            </a:solidFill>
            <a:prstDash val="solid"/>
          </a:ln>
        </p:spPr>
      </p:sp>
      <p:sp>
        <p:nvSpPr>
          <p:cNvPr id="25" name="Shape 23"/>
          <p:cNvSpPr/>
          <p:nvPr/>
        </p:nvSpPr>
        <p:spPr>
          <a:xfrm flipV="1">
            <a:off x="4876678" y="4641494"/>
            <a:ext cx="487668" cy="570586"/>
          </a:xfrm>
          <a:prstGeom prst="line">
            <a:avLst/>
          </a:prstGeom>
          <a:noFill/>
          <a:ln w="31750">
            <a:solidFill>
              <a:srgbClr val="3987E5"/>
            </a:solidFill>
            <a:prstDash val="solid"/>
          </a:ln>
        </p:spPr>
      </p:sp>
      <p:sp>
        <p:nvSpPr>
          <p:cNvPr id="26" name="Shape 24"/>
          <p:cNvSpPr/>
          <p:nvPr/>
        </p:nvSpPr>
        <p:spPr>
          <a:xfrm flipV="1">
            <a:off x="5364346" y="4356202"/>
            <a:ext cx="365751" cy="285293"/>
          </a:xfrm>
          <a:prstGeom prst="line">
            <a:avLst/>
          </a:prstGeom>
          <a:noFill/>
          <a:ln w="31750">
            <a:solidFill>
              <a:srgbClr val="3987E5"/>
            </a:solidFill>
            <a:prstDash val="solid"/>
          </a:ln>
        </p:spPr>
      </p:sp>
      <p:sp>
        <p:nvSpPr>
          <p:cNvPr id="27" name="Shape 25"/>
          <p:cNvSpPr/>
          <p:nvPr/>
        </p:nvSpPr>
        <p:spPr>
          <a:xfrm>
            <a:off x="5730097" y="4356202"/>
            <a:ext cx="487668" cy="71323"/>
          </a:xfrm>
          <a:prstGeom prst="line">
            <a:avLst/>
          </a:prstGeom>
          <a:noFill/>
          <a:ln w="31750">
            <a:solidFill>
              <a:srgbClr val="3987E5"/>
            </a:solidFill>
            <a:prstDash val="solid"/>
          </a:ln>
        </p:spPr>
      </p:sp>
      <p:sp>
        <p:nvSpPr>
          <p:cNvPr id="28" name="Shape 26"/>
          <p:cNvSpPr/>
          <p:nvPr/>
        </p:nvSpPr>
        <p:spPr>
          <a:xfrm>
            <a:off x="6217765" y="4427525"/>
            <a:ext cx="609585" cy="166421"/>
          </a:xfrm>
          <a:prstGeom prst="line">
            <a:avLst/>
          </a:prstGeom>
          <a:noFill/>
          <a:ln w="31750">
            <a:solidFill>
              <a:srgbClr val="3987E5"/>
            </a:solidFill>
            <a:prstDash val="solid"/>
          </a:ln>
        </p:spPr>
      </p:sp>
      <p:sp>
        <p:nvSpPr>
          <p:cNvPr id="29" name="Shape 27"/>
          <p:cNvSpPr/>
          <p:nvPr/>
        </p:nvSpPr>
        <p:spPr>
          <a:xfrm>
            <a:off x="6827349" y="4593946"/>
            <a:ext cx="731502" cy="142646"/>
          </a:xfrm>
          <a:prstGeom prst="line">
            <a:avLst/>
          </a:prstGeom>
          <a:noFill/>
          <a:ln w="31750">
            <a:solidFill>
              <a:srgbClr val="3987E5"/>
            </a:solidFill>
            <a:prstDash val="solid"/>
          </a:ln>
        </p:spPr>
      </p:sp>
      <p:sp>
        <p:nvSpPr>
          <p:cNvPr id="30" name="Shape 28"/>
          <p:cNvSpPr/>
          <p:nvPr/>
        </p:nvSpPr>
        <p:spPr>
          <a:xfrm>
            <a:off x="7558851" y="4736592"/>
            <a:ext cx="975336" cy="118872"/>
          </a:xfrm>
          <a:prstGeom prst="line">
            <a:avLst/>
          </a:prstGeom>
          <a:noFill/>
          <a:ln w="31750">
            <a:solidFill>
              <a:srgbClr val="3987E5"/>
            </a:solidFill>
            <a:prstDash val="solid"/>
          </a:ln>
        </p:spPr>
      </p:sp>
      <p:sp>
        <p:nvSpPr>
          <p:cNvPr id="31" name="Shape 29"/>
          <p:cNvSpPr/>
          <p:nvPr/>
        </p:nvSpPr>
        <p:spPr>
          <a:xfrm>
            <a:off x="8534187" y="4855464"/>
            <a:ext cx="1219170" cy="71323"/>
          </a:xfrm>
          <a:prstGeom prst="line">
            <a:avLst/>
          </a:prstGeom>
          <a:noFill/>
          <a:ln w="31750">
            <a:solidFill>
              <a:srgbClr val="3987E5"/>
            </a:solidFill>
            <a:prstDash val="solid"/>
          </a:ln>
        </p:spPr>
      </p:sp>
      <p:sp>
        <p:nvSpPr>
          <p:cNvPr id="32" name="Shape 30"/>
          <p:cNvSpPr/>
          <p:nvPr/>
        </p:nvSpPr>
        <p:spPr>
          <a:xfrm>
            <a:off x="9753356" y="4926787"/>
            <a:ext cx="1219170" cy="11887"/>
          </a:xfrm>
          <a:prstGeom prst="line">
            <a:avLst/>
          </a:prstGeom>
          <a:noFill/>
          <a:ln w="31750">
            <a:solidFill>
              <a:srgbClr val="3987E5"/>
            </a:solidFill>
            <a:prstDash val="solid"/>
          </a:ln>
        </p:spPr>
      </p:sp>
      <p:sp>
        <p:nvSpPr>
          <p:cNvPr id="33" name="Shape 31"/>
          <p:cNvSpPr/>
          <p:nvPr/>
        </p:nvSpPr>
        <p:spPr>
          <a:xfrm flipV="1">
            <a:off x="10972526" y="4926787"/>
            <a:ext cx="1219170" cy="11887"/>
          </a:xfrm>
          <a:prstGeom prst="line">
            <a:avLst/>
          </a:prstGeom>
          <a:noFill/>
          <a:ln w="31750">
            <a:solidFill>
              <a:srgbClr val="3987E5"/>
            </a:solidFill>
            <a:prstDash val="solid"/>
          </a:ln>
        </p:spPr>
      </p:sp>
      <p:sp>
        <p:nvSpPr>
          <p:cNvPr id="34" name="Text 32"/>
          <p:cNvSpPr/>
          <p:nvPr/>
        </p:nvSpPr>
        <p:spPr>
          <a:xfrm>
            <a:off x="685800" y="123444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Watch it fade — live.</a:t>
            </a:r>
            <a:endParaRPr lang="en-US" sz="4800" dirty="0"/>
          </a:p>
        </p:txBody>
      </p:sp>
      <p:sp>
        <p:nvSpPr>
          <p:cNvPr id="35" name="Text 33"/>
          <p:cNvSpPr/>
          <p:nvPr/>
        </p:nvSpPr>
        <p:spPr>
          <a:xfrm>
            <a:off x="713232" y="2286000"/>
            <a:ext cx="9601200" cy="548640"/>
          </a:xfrm>
          <a:prstGeom prst="rect">
            <a:avLst/>
          </a:prstGeom>
          <a:noFill/>
          <a:ln/>
        </p:spPr>
        <p:txBody>
          <a:bodyPr wrap="square" lIns="0" tIns="0" rIns="0" bIns="0" rtlCol="0" anchor="ctr"/>
          <a:lstStyle/>
          <a:p>
            <a:pPr indent="0" marL="0">
              <a:buNone/>
            </a:pPr>
            <a:r>
              <a:rPr lang="en-US" sz="1700" dirty="0">
                <a:solidFill>
                  <a:srgbClr val="C7C6BB"/>
                </a:solidFill>
                <a:latin typeface="Arial" pitchFamily="34" charset="0"/>
                <a:ea typeface="Arial" pitchFamily="34" charset="-122"/>
                <a:cs typeface="Arial" pitchFamily="34" charset="-120"/>
              </a:rPr>
              <a:t>Open the Saudi Arabia shock. Watch the market panic. Watch the bot fade it — on-chain, before it's over.</a:t>
            </a:r>
            <a:endParaRPr lang="en-US" sz="1700" dirty="0"/>
          </a:p>
        </p:txBody>
      </p:sp>
      <p:sp>
        <p:nvSpPr>
          <p:cNvPr id="36" name="Shape 34"/>
          <p:cNvSpPr/>
          <p:nvPr/>
        </p:nvSpPr>
        <p:spPr>
          <a:xfrm>
            <a:off x="713232" y="3063240"/>
            <a:ext cx="5212080" cy="685800"/>
          </a:xfrm>
          <a:prstGeom prst="roundRect">
            <a:avLst>
              <a:gd name="adj" fmla="val 13333"/>
            </a:avLst>
          </a:prstGeom>
          <a:solidFill>
            <a:srgbClr val="212120"/>
          </a:solidFill>
          <a:ln w="12700">
            <a:solidFill>
              <a:srgbClr val="3987E5"/>
            </a:solidFill>
            <a:prstDash val="solid"/>
          </a:ln>
        </p:spPr>
      </p:sp>
      <p:sp>
        <p:nvSpPr>
          <p:cNvPr id="37" name="Text 35"/>
          <p:cNvSpPr/>
          <p:nvPr/>
        </p:nvSpPr>
        <p:spPr>
          <a:xfrm>
            <a:off x="914400" y="3063240"/>
            <a:ext cx="4846320" cy="685800"/>
          </a:xfrm>
          <a:prstGeom prst="rect">
            <a:avLst/>
          </a:prstGeom>
          <a:noFill/>
          <a:ln/>
        </p:spPr>
        <p:txBody>
          <a:bodyPr wrap="square" lIns="0" tIns="0" rIns="0" bIns="0" rtlCol="0" anchor="ctr"/>
          <a:lstStyle/>
          <a:p>
            <a:pPr indent="0" marL="0">
              <a:buNone/>
            </a:pPr>
            <a:r>
              <a:rPr lang="en-US" sz="1600" b="1" dirty="0">
                <a:solidFill>
                  <a:srgbClr val="8C8C84"/>
                </a:solidFill>
                <a:latin typeface="Arial" pitchFamily="34" charset="0"/>
                <a:ea typeface="Arial" pitchFamily="34" charset="-122"/>
                <a:cs typeface="Arial" pitchFamily="34" charset="-120"/>
              </a:rPr>
              <a:t>Live demo    </a:t>
            </a:r>
            <a:pPr indent="0" marL="0">
              <a:buNone/>
            </a:pPr>
            <a:r>
              <a:rPr lang="en-US" sz="1600" b="1" dirty="0">
                <a:solidFill>
                  <a:srgbClr val="7DB2F5"/>
                </a:solidFill>
                <a:latin typeface="Arial" pitchFamily="34" charset="0"/>
                <a:ea typeface="Arial" pitchFamily="34" charset="-122"/>
                <a:cs typeface="Arial" pitchFamily="34" charset="-120"/>
              </a:rPr>
              <a:t>fadecast.onrender.com</a:t>
            </a:r>
            <a:endParaRPr lang="en-US" sz="1600" dirty="0"/>
          </a:p>
        </p:txBody>
      </p:sp>
      <p:sp>
        <p:nvSpPr>
          <p:cNvPr id="38" name="Shape 36"/>
          <p:cNvSpPr/>
          <p:nvPr/>
        </p:nvSpPr>
        <p:spPr>
          <a:xfrm>
            <a:off x="713232" y="3886200"/>
            <a:ext cx="5212080" cy="685800"/>
          </a:xfrm>
          <a:prstGeom prst="roundRect">
            <a:avLst>
              <a:gd name="adj" fmla="val 13333"/>
            </a:avLst>
          </a:prstGeom>
          <a:solidFill>
            <a:srgbClr val="212120"/>
          </a:solidFill>
          <a:ln w="12700">
            <a:solidFill>
              <a:srgbClr val="323230"/>
            </a:solidFill>
            <a:prstDash val="solid"/>
          </a:ln>
        </p:spPr>
      </p:sp>
      <p:sp>
        <p:nvSpPr>
          <p:cNvPr id="39" name="Text 37"/>
          <p:cNvSpPr/>
          <p:nvPr/>
        </p:nvSpPr>
        <p:spPr>
          <a:xfrm>
            <a:off x="914400" y="3886200"/>
            <a:ext cx="4846320" cy="685800"/>
          </a:xfrm>
          <a:prstGeom prst="rect">
            <a:avLst/>
          </a:prstGeom>
          <a:noFill/>
          <a:ln/>
        </p:spPr>
        <p:txBody>
          <a:bodyPr wrap="square" lIns="0" tIns="0" rIns="0" bIns="0" rtlCol="0" anchor="ctr"/>
          <a:lstStyle/>
          <a:p>
            <a:pPr indent="0" marL="0">
              <a:buNone/>
            </a:pPr>
            <a:r>
              <a:rPr lang="en-US" sz="1500" b="1" dirty="0">
                <a:solidFill>
                  <a:srgbClr val="8C8C84"/>
                </a:solidFill>
                <a:latin typeface="Arial" pitchFamily="34" charset="0"/>
                <a:ea typeface="Arial" pitchFamily="34" charset="-122"/>
                <a:cs typeface="Arial" pitchFamily="34" charset="-120"/>
              </a:rPr>
              <a:t>Code        </a:t>
            </a:r>
            <a:pPr indent="0" marL="0">
              <a:buNone/>
            </a:pPr>
            <a:r>
              <a:rPr lang="en-US" sz="1500" b="1" dirty="0">
                <a:solidFill>
                  <a:srgbClr val="C7C6BB"/>
                </a:solidFill>
                <a:latin typeface="Arial" pitchFamily="34" charset="0"/>
                <a:ea typeface="Arial" pitchFamily="34" charset="-122"/>
                <a:cs typeface="Arial" pitchFamily="34" charset="-120"/>
              </a:rPr>
              <a:t>github.com/hmesutozsoy/fadecast</a:t>
            </a:r>
            <a:endParaRPr lang="en-US" sz="1500" dirty="0"/>
          </a:p>
        </p:txBody>
      </p:sp>
      <p:sp>
        <p:nvSpPr>
          <p:cNvPr id="40" name="Shape 38"/>
          <p:cNvSpPr/>
          <p:nvPr/>
        </p:nvSpPr>
        <p:spPr>
          <a:xfrm>
            <a:off x="713232" y="6172200"/>
            <a:ext cx="4206240" cy="365760"/>
          </a:xfrm>
          <a:prstGeom prst="roundRect">
            <a:avLst>
              <a:gd name="adj" fmla="val 50000"/>
            </a:avLst>
          </a:prstGeom>
          <a:solidFill>
            <a:srgbClr val="212120"/>
          </a:solidFill>
          <a:ln w="12700">
            <a:solidFill>
              <a:srgbClr val="323230"/>
            </a:solidFill>
            <a:prstDash val="solid"/>
          </a:ln>
        </p:spPr>
      </p:sp>
      <p:sp>
        <p:nvSpPr>
          <p:cNvPr id="41" name="Text 39"/>
          <p:cNvSpPr/>
          <p:nvPr/>
        </p:nvSpPr>
        <p:spPr>
          <a:xfrm>
            <a:off x="804672" y="6172200"/>
            <a:ext cx="4023360" cy="365760"/>
          </a:xfrm>
          <a:prstGeom prst="rect">
            <a:avLst/>
          </a:prstGeom>
          <a:noFill/>
          <a:ln/>
        </p:spPr>
        <p:txBody>
          <a:bodyPr wrap="square" lIns="0" tIns="0" rIns="0" bIns="0" rtlCol="0" anchor="ctr"/>
          <a:lstStyle/>
          <a:p>
            <a:pPr algn="ctr" indent="0" marL="0">
              <a:buNone/>
            </a:pPr>
            <a:r>
              <a:rPr lang="en-US" sz="1100" b="1" dirty="0">
                <a:solidFill>
                  <a:srgbClr val="8C8C84"/>
                </a:solidFill>
                <a:latin typeface="Arial" pitchFamily="34" charset="0"/>
                <a:ea typeface="Arial" pitchFamily="34" charset="-122"/>
                <a:cs typeface="Arial" pitchFamily="34" charset="-120"/>
              </a:rPr>
              <a:t>Powered by  TxLINE  +  Solana devnet</a:t>
            </a:r>
            <a:endParaRPr lang="en-US" sz="1100" dirty="0"/>
          </a:p>
        </p:txBody>
      </p:sp>
      <p:sp>
        <p:nvSpPr>
          <p:cNvPr id="42" name="Text 40"/>
          <p:cNvSpPr/>
          <p:nvPr/>
        </p:nvSpPr>
        <p:spPr>
          <a:xfrm>
            <a:off x="8686800" y="5989320"/>
            <a:ext cx="2926080" cy="548640"/>
          </a:xfrm>
          <a:prstGeom prst="rect">
            <a:avLst/>
          </a:prstGeom>
          <a:noFill/>
          <a:ln/>
        </p:spPr>
        <p:txBody>
          <a:bodyPr wrap="square" lIns="0" tIns="0" rIns="0" bIns="0" rtlCol="0" anchor="ctr"/>
          <a:lstStyle/>
          <a:p>
            <a:pPr algn="r" indent="0" marL="0">
              <a:buNone/>
            </a:pPr>
            <a:r>
              <a:rPr lang="en-US" sz="2400" b="1" dirty="0">
                <a:solidFill>
                  <a:srgbClr val="FFFFFF"/>
                </a:solidFill>
                <a:latin typeface="Arial" pitchFamily="34" charset="0"/>
                <a:ea typeface="Arial" pitchFamily="34" charset="-122"/>
                <a:cs typeface="Arial" pitchFamily="34" charset="-120"/>
              </a:rPr>
              <a:t>FADE</a:t>
            </a:r>
            <a:pPr algn="r" indent="0" marL="0">
              <a:buNone/>
            </a:pPr>
            <a:r>
              <a:rPr lang="en-US" sz="2400" b="1" dirty="0">
                <a:solidFill>
                  <a:srgbClr val="3987E5"/>
                </a:solidFill>
                <a:latin typeface="Arial" pitchFamily="34" charset="0"/>
                <a:ea typeface="Arial" pitchFamily="34" charset="-122"/>
                <a:cs typeface="Arial" pitchFamily="34" charset="-120"/>
              </a:rPr>
              <a:t>CAST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2026-07-12T10:45:35Z</dcterms:created>
  <dcterms:modified xsi:type="dcterms:W3CDTF">2026-07-12T10:45:35Z</dcterms:modified>
</cp:coreProperties>
</file>